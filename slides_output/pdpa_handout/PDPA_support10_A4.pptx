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259" cy="1069207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353" y="420624"/>
            <a:ext cx="987552" cy="98755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1554480"/>
            <a:ext cx="6554419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卒業後に受けられる 10 のサポート</a:t>
            </a:r>
          </a:p>
        </p:txBody>
      </p:sp>
      <p:sp>
        <p:nvSpPr>
          <p:cNvPr id="4" name="Rectangle 3"/>
          <p:cNvSpPr/>
          <p:nvPr/>
        </p:nvSpPr>
        <p:spPr>
          <a:xfrm>
            <a:off x="2820009" y="2066543"/>
            <a:ext cx="1920240" cy="508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212848"/>
            <a:ext cx="65544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5A6472"/>
                </a:solidFill>
                <a:latin typeface="BIZ UDPGothic"/>
                <a:ea typeface="BIZ UDPGothic"/>
                <a:cs typeface="BIZ UDPGothic"/>
              </a:rPr>
              <a:t>認定ペット防災アドバイザーのためのバックアップ体制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688336"/>
            <a:ext cx="3167481" cy="115214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21208" y="2761488"/>
            <a:ext cx="73152" cy="10058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22376" y="2825496"/>
            <a:ext cx="365760" cy="36576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2000" b="1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9576" y="2834640"/>
            <a:ext cx="232623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初回デビュー伴走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3200400"/>
            <a:ext cx="272856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1B222C"/>
                </a:solidFill>
                <a:latin typeface="BIZ UDPGothic"/>
                <a:ea typeface="BIZ UDPGothic"/>
                <a:cs typeface="BIZ UDPGothic"/>
              </a:rPr>
              <a:t>卒業後はじめての講座は認定講師がZoomで同席し、企画の相談から講評まで伴走します。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9857" y="2688336"/>
            <a:ext cx="3167481" cy="115214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08145" y="2761488"/>
            <a:ext cx="73152" cy="10058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09313" y="2825496"/>
            <a:ext cx="365760" cy="36576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2000" b="1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6513" y="2834640"/>
            <a:ext cx="232623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セミナー開催キット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27601" y="3200400"/>
            <a:ext cx="272856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1B222C"/>
                </a:solidFill>
                <a:latin typeface="BIZ UDPGothic"/>
                <a:ea typeface="BIZ UDPGothic"/>
                <a:cs typeface="BIZ UDPGothic"/>
              </a:rPr>
              <a:t>PowerPoint・司会台本・配布資料・アンケート・修了証テンプレートを一式で提供します。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986784"/>
            <a:ext cx="3167481" cy="115214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1208" y="4059936"/>
            <a:ext cx="73152" cy="10058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2376" y="4123944"/>
            <a:ext cx="365760" cy="36576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2000" b="1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9576" y="4133088"/>
            <a:ext cx="232623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協会名義の公式文書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" y="4498848"/>
            <a:ext cx="272856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1B222C"/>
                </a:solidFill>
                <a:latin typeface="BIZ UDPGothic"/>
                <a:ea typeface="BIZ UDPGothic"/>
                <a:cs typeface="BIZ UDPGothic"/>
              </a:rPr>
              <a:t>自治体や学校へ出す依頼文・企画書ひな型・活動証明書を協会名義で発行します。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89857" y="3986784"/>
            <a:ext cx="3167481" cy="115214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08145" y="4059936"/>
            <a:ext cx="73152" cy="10058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109313" y="4123944"/>
            <a:ext cx="365760" cy="36576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2000" b="1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6513" y="4133088"/>
            <a:ext cx="232623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団体賠償責任保険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27601" y="4498848"/>
            <a:ext cx="272856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1B222C"/>
                </a:solidFill>
                <a:latin typeface="BIZ UDPGothic"/>
                <a:ea typeface="BIZ UDPGothic"/>
                <a:cs typeface="BIZ UDPGothic"/>
              </a:rPr>
              <a:t>講座中の事故に備える保険にご加入いただけます（保険料は認定者負担）。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285232"/>
            <a:ext cx="3167481" cy="115214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21208" y="5358384"/>
            <a:ext cx="73152" cy="10058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22376" y="5422392"/>
            <a:ext cx="365760" cy="36576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2000" b="1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9576" y="5431536"/>
            <a:ext cx="232623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出典アップデート通知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" y="5797296"/>
            <a:ext cx="272856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1B222C"/>
                </a:solidFill>
                <a:latin typeface="BIZ UDPGothic"/>
                <a:ea typeface="BIZ UDPGothic"/>
                <a:cs typeface="BIZ UDPGothic"/>
              </a:rPr>
              <a:t>環境省・内閣府・気象庁などの改訂を協会が監視し、古くなった教材ページを差し替えて配信します。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89857" y="5285232"/>
            <a:ext cx="3167481" cy="115214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908145" y="5358384"/>
            <a:ext cx="73152" cy="10058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109313" y="5422392"/>
            <a:ext cx="365760" cy="36576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2000" b="1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66513" y="5431536"/>
            <a:ext cx="232623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協会ライブラリー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27601" y="5797296"/>
            <a:ext cx="272856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1B222C"/>
                </a:solidFill>
                <a:latin typeface="BIZ UDPGothic"/>
                <a:ea typeface="BIZ UDPGothic"/>
                <a:cs typeface="BIZ UDPGothic"/>
              </a:rPr>
              <a:t>スライド・チラシ・チェックリスト・ポスターを認定者専用ページから自由にダウンロードできます。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6583680"/>
            <a:ext cx="3167481" cy="115214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21208" y="6656832"/>
            <a:ext cx="73152" cy="10058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22376" y="6720840"/>
            <a:ext cx="365760" cy="36576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2000" b="1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79576" y="6729984"/>
            <a:ext cx="232623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毎月のオンライン勉強会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" y="7095744"/>
            <a:ext cx="272856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1B222C"/>
                </a:solidFill>
                <a:latin typeface="BIZ UDPGothic"/>
                <a:ea typeface="BIZ UDPGothic"/>
                <a:cs typeface="BIZ UDPGothic"/>
              </a:rPr>
              <a:t>最近の災害事例、防災グッズ、行政情報、法改正を毎月共有。認定者どうしの交流の場にもなります。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89857" y="6583680"/>
            <a:ext cx="3167481" cy="115214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908145" y="6656832"/>
            <a:ext cx="73152" cy="10058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109313" y="6720840"/>
            <a:ext cx="365760" cy="36576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2000" b="1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66513" y="6729984"/>
            <a:ext cx="232623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認定者マップと指名紹介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27601" y="7095744"/>
            <a:ext cx="272856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1B222C"/>
                </a:solidFill>
                <a:latin typeface="BIZ UDPGothic"/>
                <a:ea typeface="BIZ UDPGothic"/>
                <a:cs typeface="BIZ UDPGothic"/>
              </a:rPr>
              <a:t>地域や企業からの相談を協会がお取り次ぎします。公開するのはご本人が同意した項目だけです。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7882128"/>
            <a:ext cx="3167481" cy="115214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1208" y="7955280"/>
            <a:ext cx="73152" cy="10058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22376" y="8019288"/>
            <a:ext cx="365760" cy="36576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2000" b="1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79576" y="8028432"/>
            <a:ext cx="232623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共同開催マッチング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0664" y="8394192"/>
            <a:ext cx="272856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1B222C"/>
                </a:solidFill>
                <a:latin typeface="BIZ UDPGothic"/>
                <a:ea typeface="BIZ UDPGothic"/>
                <a:cs typeface="BIZ UDPGothic"/>
              </a:rPr>
              <a:t>近隣の認定者2〜3名でチームを組めるよう協会が仲介。はじめての開催もひとりで抱えません。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889857" y="7882128"/>
            <a:ext cx="3167481" cy="115214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908145" y="7955280"/>
            <a:ext cx="73152" cy="10058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109313" y="8019288"/>
            <a:ext cx="365760" cy="36576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500" b="1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66513" y="8028432"/>
            <a:ext cx="232623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7375E"/>
                </a:solidFill>
                <a:latin typeface="BIZ UDPGothic"/>
                <a:ea typeface="BIZ UDPGothic"/>
                <a:cs typeface="BIZ UDPGothic"/>
              </a:rPr>
              <a:t>活動記録とバッジ昇格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27601" y="8394192"/>
            <a:ext cx="272856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1B222C"/>
                </a:solidFill>
                <a:latin typeface="BIZ UDPGothic"/>
                <a:ea typeface="BIZ UDPGothic"/>
                <a:cs typeface="BIZ UDPGothic"/>
              </a:rPr>
              <a:t>LINEで活動を報告すればポイントを自動集計。青→銀→金のバッジ昇格まで協会が判定します。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9162288"/>
            <a:ext cx="655441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5A6472"/>
                </a:solidFill>
                <a:latin typeface="BIZ UDPGothic"/>
                <a:ea typeface="BIZ UDPGothic"/>
                <a:cs typeface="BIZ UDPGothic"/>
              </a:rPr>
              <a:t>教材コード PDPA-100S　認定後サポート体制　Ver.1.0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9466783"/>
            <a:ext cx="7560259" cy="841248"/>
          </a:xfrm>
          <a:prstGeom prst="rect">
            <a:avLst/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0" y="9466783"/>
            <a:ext cx="7560259" cy="508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" y="9613087"/>
            <a:ext cx="65544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一般社団法人 ペット防災アドバイザー協会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9942271"/>
            <a:ext cx="655441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F5A623"/>
                </a:solidFill>
                <a:latin typeface="BIZ UDPGothic"/>
                <a:ea typeface="BIZ UDPGothic"/>
                <a:cs typeface="BIZ UDPGothic"/>
              </a:rPr>
              <a:t>備える・守る・つなぐ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" y="10381183"/>
            <a:ext cx="655441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750" b="0" i="0">
                <a:solidFill>
                  <a:srgbClr val="5A6472"/>
                </a:solidFill>
                <a:latin typeface="BIZ UDPGothic"/>
                <a:ea typeface="BIZ UDPGothic"/>
                <a:cs typeface="BIZ UDPGothic"/>
              </a:rPr>
              <a:t>© 一般社団法人 ペット防災アドバイザー協会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