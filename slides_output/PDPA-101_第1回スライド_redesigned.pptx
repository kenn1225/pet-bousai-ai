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image" Target="../media/image5.jpg"/><Relationship Id="rId4" Type="http://schemas.openxmlformats.org/officeDocument/2006/relationships/image" Target="../media/image6.jpg"/><Relationship Id="rId5" Type="http://schemas.openxmlformats.org/officeDocument/2006/relationships/image" Target="../media/image7.jpg"/><Relationship Id="rId6" Type="http://schemas.openxmlformats.org/officeDocument/2006/relationships/image" Target="../media/image8.jpg"/><Relationship Id="rId7" Type="http://schemas.openxmlformats.org/officeDocument/2006/relationships/image" Target="../media/image9.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image" Target="../media/image12.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 Id="rId3" Type="http://schemas.openxmlformats.org/officeDocument/2006/relationships/image" Target="../media/image14.jpg"/><Relationship Id="rId4" Type="http://schemas.openxmlformats.org/officeDocument/2006/relationships/image" Target="../media/image15.jpg"/><Relationship Id="rId5" Type="http://schemas.openxmlformats.org/officeDocument/2006/relationships/image" Target="../media/image16.jpg"/><Relationship Id="rId6" Type="http://schemas.openxmlformats.org/officeDocument/2006/relationships/image" Target="../media/image17.jpg"/><Relationship Id="rId7" Type="http://schemas.openxmlformats.org/officeDocument/2006/relationships/image" Target="../media/image18.jpg"/><Relationship Id="rId8" Type="http://schemas.openxmlformats.org/officeDocument/2006/relationships/image" Target="../media/image19.jpg"/><Relationship Id="rId9" Type="http://schemas.openxmlformats.org/officeDocument/2006/relationships/image" Target="../media/image20.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 Id="rId3" Type="http://schemas.openxmlformats.org/officeDocument/2006/relationships/image" Target="../media/image22.jpg"/><Relationship Id="rId4" Type="http://schemas.openxmlformats.org/officeDocument/2006/relationships/image" Target="../media/image23.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7375E"/>
        </a:solidFill>
        <a:effectLst/>
      </p:bgPr>
    </p:bg>
    <p:spTree>
      <p:nvGrpSpPr>
        <p:cNvPr id="1" name=""/>
        <p:cNvGrpSpPr/>
        <p:nvPr/>
      </p:nvGrpSpPr>
      <p:grpSpPr/>
      <p:pic>
        <p:nvPicPr>
          <p:cNvPr id="2" name="Picture 1" descr="cover_senior_pet.jpg"/>
          <p:cNvPicPr>
            <a:picLocks noChangeAspect="1"/>
          </p:cNvPicPr>
          <p:nvPr/>
        </p:nvPicPr>
        <p:blipFill>
          <a:blip r:embed="rId2"/>
          <a:srcRect l="1516" r="1516"/>
          <a:stretch>
            <a:fillRect/>
          </a:stretch>
        </p:blipFill>
        <p:spPr>
          <a:xfrm>
            <a:off x="0" y="0"/>
            <a:ext cx="12191695" cy="6858000"/>
          </a:xfrm>
          <a:prstGeom prst="rect">
            <a:avLst/>
          </a:prstGeom>
        </p:spPr>
      </p:pic>
      <p:sp>
        <p:nvSpPr>
          <p:cNvPr id="3" name="Rectangle 2"/>
          <p:cNvSpPr/>
          <p:nvPr/>
        </p:nvSpPr>
        <p:spPr>
          <a:xfrm>
            <a:off x="0" y="3291840"/>
            <a:ext cx="12191695" cy="3566160"/>
          </a:xfrm>
          <a:prstGeom prst="rect">
            <a:avLst/>
          </a:prstGeom>
          <a:solidFill>
            <a:srgbClr val="17375E">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jpg"/>
          <p:cNvPicPr>
            <a:picLocks noChangeAspect="1"/>
          </p:cNvPicPr>
          <p:nvPr/>
        </p:nvPicPr>
        <p:blipFill>
          <a:blip r:embed="rId3"/>
          <a:stretch>
            <a:fillRect/>
          </a:stretch>
        </p:blipFill>
        <p:spPr>
          <a:xfrm>
            <a:off x="640080" y="502920"/>
            <a:ext cx="1005840" cy="1005840"/>
          </a:xfrm>
          <a:prstGeom prst="rect">
            <a:avLst/>
          </a:prstGeom>
        </p:spPr>
      </p:pic>
      <p:sp>
        <p:nvSpPr>
          <p:cNvPr id="5" name="TextBox 4"/>
          <p:cNvSpPr txBox="1"/>
          <p:nvPr/>
        </p:nvSpPr>
        <p:spPr>
          <a:xfrm>
            <a:off x="640080" y="3657600"/>
            <a:ext cx="4572000" cy="365760"/>
          </a:xfrm>
          <a:prstGeom prst="rect">
            <a:avLst/>
          </a:prstGeom>
          <a:noFill/>
        </p:spPr>
        <p:txBody>
          <a:bodyPr wrap="square" anchor="t" lIns="0" rIns="0" tIns="0" bIns="0">
            <a:spAutoFit/>
          </a:bodyPr>
          <a:lstStyle/>
          <a:p>
            <a:pPr algn="l">
              <a:lnSpc>
                <a:spcPct val="115000"/>
              </a:lnSpc>
            </a:pPr>
            <a:r>
              <a:rPr sz="1400" b="1" i="0">
                <a:solidFill>
                  <a:srgbClr val="F5A623"/>
                </a:solidFill>
                <a:latin typeface="Yu Gothic"/>
              </a:rPr>
              <a:t>第1回</a:t>
            </a:r>
          </a:p>
        </p:txBody>
      </p:sp>
      <p:sp>
        <p:nvSpPr>
          <p:cNvPr id="6" name="TextBox 5"/>
          <p:cNvSpPr txBox="1"/>
          <p:nvPr/>
        </p:nvSpPr>
        <p:spPr>
          <a:xfrm>
            <a:off x="640080" y="3977639"/>
            <a:ext cx="10058400" cy="640080"/>
          </a:xfrm>
          <a:prstGeom prst="rect">
            <a:avLst/>
          </a:prstGeom>
          <a:noFill/>
        </p:spPr>
        <p:txBody>
          <a:bodyPr wrap="square" anchor="t" lIns="0" rIns="0" tIns="0" bIns="0">
            <a:spAutoFit/>
          </a:bodyPr>
          <a:lstStyle/>
          <a:p>
            <a:pPr algn="l">
              <a:lnSpc>
                <a:spcPct val="115000"/>
              </a:lnSpc>
            </a:pPr>
            <a:r>
              <a:rPr sz="3400" b="1" i="0">
                <a:solidFill>
                  <a:srgbClr val="FFFFFF"/>
                </a:solidFill>
                <a:latin typeface="Yu Gothic"/>
              </a:rPr>
              <a:t>ペット防災アドバイザー養成講座</a:t>
            </a:r>
          </a:p>
        </p:txBody>
      </p:sp>
      <p:sp>
        <p:nvSpPr>
          <p:cNvPr id="7" name="TextBox 6"/>
          <p:cNvSpPr txBox="1"/>
          <p:nvPr/>
        </p:nvSpPr>
        <p:spPr>
          <a:xfrm>
            <a:off x="640080" y="4709160"/>
            <a:ext cx="10058400" cy="731520"/>
          </a:xfrm>
          <a:prstGeom prst="rect">
            <a:avLst/>
          </a:prstGeom>
          <a:noFill/>
        </p:spPr>
        <p:txBody>
          <a:bodyPr wrap="square" anchor="t" lIns="0" rIns="0" tIns="0" bIns="0">
            <a:spAutoFit/>
          </a:bodyPr>
          <a:lstStyle/>
          <a:p>
            <a:pPr algn="l">
              <a:lnSpc>
                <a:spcPct val="115000"/>
              </a:lnSpc>
            </a:pPr>
            <a:r>
              <a:rPr sz="2400" b="1" i="0">
                <a:solidFill>
                  <a:srgbClr val="F5A623"/>
                </a:solidFill>
                <a:latin typeface="Yu Gothic"/>
              </a:rPr>
              <a:t>ペット防災アドバイザーという新しい役割</a:t>
            </a:r>
          </a:p>
        </p:txBody>
      </p:sp>
      <p:sp>
        <p:nvSpPr>
          <p:cNvPr id="8" name="TextBox 7"/>
          <p:cNvSpPr txBox="1"/>
          <p:nvPr/>
        </p:nvSpPr>
        <p:spPr>
          <a:xfrm>
            <a:off x="640080" y="6035040"/>
            <a:ext cx="8229600" cy="365760"/>
          </a:xfrm>
          <a:prstGeom prst="rect">
            <a:avLst/>
          </a:prstGeom>
          <a:noFill/>
        </p:spPr>
        <p:txBody>
          <a:bodyPr wrap="square" anchor="t" lIns="0" rIns="0" tIns="0" bIns="0">
            <a:spAutoFit/>
          </a:bodyPr>
          <a:lstStyle/>
          <a:p>
            <a:pPr algn="l">
              <a:lnSpc>
                <a:spcPct val="115000"/>
              </a:lnSpc>
            </a:pPr>
            <a:r>
              <a:rPr sz="1100" b="0" i="0">
                <a:solidFill>
                  <a:srgbClr val="C7CDD6"/>
                </a:solidFill>
                <a:latin typeface="Yu Gothic"/>
              </a:rPr>
              <a:t>一般社団法人 ペット防災アドバイザー協会　公式教育プログラム　PDPA-101　Ver.2.0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3F5F7"/>
        </a:solidFill>
        <a:effectLst/>
      </p:bgPr>
    </p:bg>
    <p:spTree>
      <p:nvGrpSpPr>
        <p:cNvPr id="1" name=""/>
        <p:cNvGrpSpPr/>
        <p:nvPr/>
      </p:nvGrpSpPr>
      <p:grpSpPr/>
      <p:sp>
        <p:nvSpPr>
          <p:cNvPr id="2" name="TextBox 1"/>
          <p:cNvSpPr txBox="1"/>
          <p:nvPr/>
        </p:nvSpPr>
        <p:spPr>
          <a:xfrm>
            <a:off x="640080" y="502920"/>
            <a:ext cx="4572000" cy="365760"/>
          </a:xfrm>
          <a:prstGeom prst="rect">
            <a:avLst/>
          </a:prstGeom>
          <a:noFill/>
        </p:spPr>
        <p:txBody>
          <a:bodyPr wrap="square" anchor="t" lIns="0" rIns="0" tIns="0" bIns="0">
            <a:spAutoFit/>
          </a:bodyPr>
          <a:lstStyle/>
          <a:p>
            <a:pPr algn="l">
              <a:lnSpc>
                <a:spcPct val="115000"/>
              </a:lnSpc>
            </a:pPr>
            <a:r>
              <a:rPr sz="1400" b="1" i="0">
                <a:solidFill>
                  <a:srgbClr val="F5A623"/>
                </a:solidFill>
                <a:latin typeface="Yu Gothic"/>
              </a:rPr>
              <a:t>LEARNING GOALS</a:t>
            </a:r>
          </a:p>
        </p:txBody>
      </p:sp>
      <p:sp>
        <p:nvSpPr>
          <p:cNvPr id="3" name="TextBox 2"/>
          <p:cNvSpPr txBox="1"/>
          <p:nvPr/>
        </p:nvSpPr>
        <p:spPr>
          <a:xfrm>
            <a:off x="640080" y="822960"/>
            <a:ext cx="10515600" cy="822960"/>
          </a:xfrm>
          <a:prstGeom prst="rect">
            <a:avLst/>
          </a:prstGeom>
          <a:noFill/>
        </p:spPr>
        <p:txBody>
          <a:bodyPr wrap="square" anchor="t" lIns="0" rIns="0" tIns="0" bIns="0">
            <a:spAutoFit/>
          </a:bodyPr>
          <a:lstStyle/>
          <a:p>
            <a:pPr algn="l">
              <a:lnSpc>
                <a:spcPct val="115000"/>
              </a:lnSpc>
            </a:pPr>
            <a:r>
              <a:rPr sz="3000" b="1" i="0">
                <a:solidFill>
                  <a:srgbClr val="17375E"/>
                </a:solidFill>
                <a:latin typeface="Yu Gothic"/>
              </a:rPr>
              <a:t>今日の学習目標</a:t>
            </a:r>
          </a:p>
        </p:txBody>
      </p:sp>
      <p:sp>
        <p:nvSpPr>
          <p:cNvPr id="4" name="Rectangle 3"/>
          <p:cNvSpPr/>
          <p:nvPr/>
        </p:nvSpPr>
        <p:spPr>
          <a:xfrm>
            <a:off x="640080" y="1600200"/>
            <a:ext cx="822960" cy="3810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2194560"/>
            <a:ext cx="10881360" cy="1051560"/>
          </a:xfrm>
          <a:prstGeom prst="roundRect">
            <a:avLst>
              <a:gd name="adj" fmla="val 12000"/>
            </a:avLst>
          </a:prstGeom>
          <a:solidFill>
            <a:srgbClr val="FFFFFF"/>
          </a:solidFill>
          <a:ln w="12700">
            <a:solidFill>
              <a:srgbClr val="EAE6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60120" y="2487168"/>
            <a:ext cx="457200" cy="45720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FFFFFF"/>
                </a:solidFill>
                <a:latin typeface="Yu Gothic"/>
              </a:rPr>
              <a:t>1</a:t>
            </a:r>
          </a:p>
        </p:txBody>
      </p:sp>
      <p:sp>
        <p:nvSpPr>
          <p:cNvPr id="7" name="TextBox 6"/>
          <p:cNvSpPr txBox="1"/>
          <p:nvPr/>
        </p:nvSpPr>
        <p:spPr>
          <a:xfrm>
            <a:off x="1737360" y="2194560"/>
            <a:ext cx="9509760" cy="1051560"/>
          </a:xfrm>
          <a:prstGeom prst="rect">
            <a:avLst/>
          </a:prstGeom>
          <a:noFill/>
        </p:spPr>
        <p:txBody>
          <a:bodyPr wrap="square" anchor="ctr" lIns="0" rIns="0" tIns="0" bIns="0">
            <a:spAutoFit/>
          </a:bodyPr>
          <a:lstStyle/>
          <a:p>
            <a:pPr algn="l">
              <a:lnSpc>
                <a:spcPct val="115000"/>
              </a:lnSpc>
            </a:pPr>
            <a:r>
              <a:rPr sz="1900" b="1" i="0">
                <a:solidFill>
                  <a:srgbClr val="1F2937"/>
                </a:solidFill>
                <a:latin typeface="Yu Gothic"/>
              </a:rPr>
              <a:t>ペット防災アドバイザーとは何か理解する</a:t>
            </a:r>
          </a:p>
        </p:txBody>
      </p:sp>
      <p:sp>
        <p:nvSpPr>
          <p:cNvPr id="8" name="Rounded Rectangle 7"/>
          <p:cNvSpPr/>
          <p:nvPr/>
        </p:nvSpPr>
        <p:spPr>
          <a:xfrm>
            <a:off x="640080" y="3474720"/>
            <a:ext cx="10881360" cy="1051560"/>
          </a:xfrm>
          <a:prstGeom prst="roundRect">
            <a:avLst>
              <a:gd name="adj" fmla="val 12000"/>
            </a:avLst>
          </a:prstGeom>
          <a:solidFill>
            <a:srgbClr val="FFFFFF"/>
          </a:solidFill>
          <a:ln w="12700">
            <a:solidFill>
              <a:srgbClr val="EAE6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3767328"/>
            <a:ext cx="457200" cy="45720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FFFFFF"/>
                </a:solidFill>
                <a:latin typeface="Yu Gothic"/>
              </a:rPr>
              <a:t>2</a:t>
            </a:r>
          </a:p>
        </p:txBody>
      </p:sp>
      <p:sp>
        <p:nvSpPr>
          <p:cNvPr id="10" name="TextBox 9"/>
          <p:cNvSpPr txBox="1"/>
          <p:nvPr/>
        </p:nvSpPr>
        <p:spPr>
          <a:xfrm>
            <a:off x="1737360" y="3474720"/>
            <a:ext cx="9509760" cy="1051560"/>
          </a:xfrm>
          <a:prstGeom prst="rect">
            <a:avLst/>
          </a:prstGeom>
          <a:noFill/>
        </p:spPr>
        <p:txBody>
          <a:bodyPr wrap="square" anchor="ctr" lIns="0" rIns="0" tIns="0" bIns="0">
            <a:spAutoFit/>
          </a:bodyPr>
          <a:lstStyle/>
          <a:p>
            <a:pPr algn="l">
              <a:lnSpc>
                <a:spcPct val="115000"/>
              </a:lnSpc>
            </a:pPr>
            <a:r>
              <a:rPr sz="1900" b="1" i="0">
                <a:solidFill>
                  <a:srgbClr val="1F2937"/>
                </a:solidFill>
                <a:latin typeface="Yu Gothic"/>
              </a:rPr>
              <a:t>日本で必要とされる理由を知る</a:t>
            </a:r>
          </a:p>
        </p:txBody>
      </p:sp>
      <p:sp>
        <p:nvSpPr>
          <p:cNvPr id="11" name="Rounded Rectangle 10"/>
          <p:cNvSpPr/>
          <p:nvPr/>
        </p:nvSpPr>
        <p:spPr>
          <a:xfrm>
            <a:off x="640080" y="4754880"/>
            <a:ext cx="10881360" cy="1051560"/>
          </a:xfrm>
          <a:prstGeom prst="roundRect">
            <a:avLst>
              <a:gd name="adj" fmla="val 12000"/>
            </a:avLst>
          </a:prstGeom>
          <a:solidFill>
            <a:srgbClr val="FFFFFF"/>
          </a:solidFill>
          <a:ln w="12700">
            <a:solidFill>
              <a:srgbClr val="EAE6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960120" y="5047488"/>
            <a:ext cx="457200" cy="45720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FFFFFF"/>
                </a:solidFill>
                <a:latin typeface="Yu Gothic"/>
              </a:rPr>
              <a:t>3</a:t>
            </a:r>
          </a:p>
        </p:txBody>
      </p:sp>
      <p:sp>
        <p:nvSpPr>
          <p:cNvPr id="13" name="TextBox 12"/>
          <p:cNvSpPr txBox="1"/>
          <p:nvPr/>
        </p:nvSpPr>
        <p:spPr>
          <a:xfrm>
            <a:off x="1737360" y="4754880"/>
            <a:ext cx="9509760" cy="1051560"/>
          </a:xfrm>
          <a:prstGeom prst="rect">
            <a:avLst/>
          </a:prstGeom>
          <a:noFill/>
        </p:spPr>
        <p:txBody>
          <a:bodyPr wrap="square" anchor="ctr" lIns="0" rIns="0" tIns="0" bIns="0">
            <a:spAutoFit/>
          </a:bodyPr>
          <a:lstStyle/>
          <a:p>
            <a:pPr algn="l">
              <a:lnSpc>
                <a:spcPct val="115000"/>
              </a:lnSpc>
            </a:pPr>
            <a:r>
              <a:rPr sz="1900" b="1" i="0">
                <a:solidFill>
                  <a:srgbClr val="1F2937"/>
                </a:solidFill>
                <a:latin typeface="Yu Gothic"/>
              </a:rPr>
              <a:t>活動内容と、卒業後の活躍のイメージを持つ</a:t>
            </a:r>
          </a:p>
        </p:txBody>
      </p:sp>
      <p:sp>
        <p:nvSpPr>
          <p:cNvPr id="14" name="TextBox 13"/>
          <p:cNvSpPr txBox="1"/>
          <p:nvPr/>
        </p:nvSpPr>
        <p:spPr>
          <a:xfrm>
            <a:off x="457200" y="6492240"/>
            <a:ext cx="6400800" cy="274320"/>
          </a:xfrm>
          <a:prstGeom prst="rect">
            <a:avLst/>
          </a:prstGeom>
          <a:noFill/>
        </p:spPr>
        <p:txBody>
          <a:bodyPr wrap="square" anchor="t" lIns="0" rIns="0" tIns="0" bIns="0">
            <a:spAutoFit/>
          </a:bodyPr>
          <a:lstStyle/>
          <a:p>
            <a:pPr algn="l">
              <a:lnSpc>
                <a:spcPct val="115000"/>
              </a:lnSpc>
            </a:pPr>
            <a:r>
              <a:rPr sz="900" b="0" i="0">
                <a:solidFill>
                  <a:srgbClr val="767C85"/>
                </a:solidFill>
                <a:latin typeface="Yu Gothic"/>
              </a:rPr>
              <a:t>一般社団法人 ペット防災アドバイザー協会　PDPA-101</a:t>
            </a:r>
          </a:p>
        </p:txBody>
      </p:sp>
      <p:sp>
        <p:nvSpPr>
          <p:cNvPr id="15" name="TextBox 14"/>
          <p:cNvSpPr txBox="1"/>
          <p:nvPr/>
        </p:nvSpPr>
        <p:spPr>
          <a:xfrm>
            <a:off x="11521440" y="6492240"/>
            <a:ext cx="457200" cy="274320"/>
          </a:xfrm>
          <a:prstGeom prst="rect">
            <a:avLst/>
          </a:prstGeom>
          <a:noFill/>
        </p:spPr>
        <p:txBody>
          <a:bodyPr wrap="square" anchor="t" lIns="0" rIns="0" tIns="0" bIns="0">
            <a:spAutoFit/>
          </a:bodyPr>
          <a:lstStyle/>
          <a:p>
            <a:pPr algn="r">
              <a:lnSpc>
                <a:spcPct val="115000"/>
              </a:lnSpc>
            </a:pPr>
            <a:r>
              <a:rPr sz="900" b="0" i="0">
                <a:solidFill>
                  <a:srgbClr val="767C85"/>
                </a:solidFill>
                <a:latin typeface="Yu Gothic"/>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3F5F7"/>
        </a:solidFill>
        <a:effectLst/>
      </p:bgPr>
    </p:bg>
    <p:spTree>
      <p:nvGrpSpPr>
        <p:cNvPr id="1" name=""/>
        <p:cNvGrpSpPr/>
        <p:nvPr/>
      </p:nvGrpSpPr>
      <p:grpSpPr/>
      <p:sp>
        <p:nvSpPr>
          <p:cNvPr id="2" name="TextBox 1"/>
          <p:cNvSpPr txBox="1"/>
          <p:nvPr/>
        </p:nvSpPr>
        <p:spPr>
          <a:xfrm>
            <a:off x="640080" y="502920"/>
            <a:ext cx="4572000" cy="365760"/>
          </a:xfrm>
          <a:prstGeom prst="rect">
            <a:avLst/>
          </a:prstGeom>
          <a:noFill/>
        </p:spPr>
        <p:txBody>
          <a:bodyPr wrap="square" anchor="t" lIns="0" rIns="0" tIns="0" bIns="0">
            <a:spAutoFit/>
          </a:bodyPr>
          <a:lstStyle/>
          <a:p>
            <a:pPr algn="l">
              <a:lnSpc>
                <a:spcPct val="115000"/>
              </a:lnSpc>
            </a:pPr>
            <a:r>
              <a:rPr sz="1400" b="1" i="0">
                <a:solidFill>
                  <a:srgbClr val="F5A623"/>
                </a:solidFill>
                <a:latin typeface="Yu Gothic"/>
              </a:rPr>
              <a:t>DEFINITION</a:t>
            </a:r>
          </a:p>
        </p:txBody>
      </p:sp>
      <p:sp>
        <p:nvSpPr>
          <p:cNvPr id="3" name="TextBox 2"/>
          <p:cNvSpPr txBox="1"/>
          <p:nvPr/>
        </p:nvSpPr>
        <p:spPr>
          <a:xfrm>
            <a:off x="640080" y="822960"/>
            <a:ext cx="10515600" cy="822960"/>
          </a:xfrm>
          <a:prstGeom prst="rect">
            <a:avLst/>
          </a:prstGeom>
          <a:noFill/>
        </p:spPr>
        <p:txBody>
          <a:bodyPr wrap="square" anchor="t" lIns="0" rIns="0" tIns="0" bIns="0">
            <a:spAutoFit/>
          </a:bodyPr>
          <a:lstStyle/>
          <a:p>
            <a:pPr algn="l">
              <a:lnSpc>
                <a:spcPct val="115000"/>
              </a:lnSpc>
            </a:pPr>
            <a:r>
              <a:rPr sz="3000" b="1" i="0">
                <a:solidFill>
                  <a:srgbClr val="17375E"/>
                </a:solidFill>
                <a:latin typeface="Yu Gothic"/>
              </a:rPr>
              <a:t>ペット防災アドバイザーとは</a:t>
            </a:r>
          </a:p>
        </p:txBody>
      </p:sp>
      <p:sp>
        <p:nvSpPr>
          <p:cNvPr id="4" name="Rectangle 3"/>
          <p:cNvSpPr/>
          <p:nvPr/>
        </p:nvSpPr>
        <p:spPr>
          <a:xfrm>
            <a:off x="640080" y="1600200"/>
            <a:ext cx="822960" cy="3810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949440" y="2011680"/>
            <a:ext cx="4572000" cy="40233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advisor_role.jpg"/>
          <p:cNvPicPr>
            <a:picLocks noChangeAspect="1"/>
          </p:cNvPicPr>
          <p:nvPr/>
        </p:nvPicPr>
        <p:blipFill>
          <a:blip r:embed="rId2"/>
          <a:srcRect l="19008" r="19008"/>
          <a:stretch>
            <a:fillRect/>
          </a:stretch>
        </p:blipFill>
        <p:spPr>
          <a:xfrm>
            <a:off x="6949440" y="2011680"/>
            <a:ext cx="4572000" cy="4023360"/>
          </a:xfrm>
          <a:prstGeom prst="rect">
            <a:avLst/>
          </a:prstGeom>
        </p:spPr>
      </p:pic>
      <p:sp>
        <p:nvSpPr>
          <p:cNvPr id="7" name="Rounded Rectangle 6"/>
          <p:cNvSpPr/>
          <p:nvPr/>
        </p:nvSpPr>
        <p:spPr>
          <a:xfrm>
            <a:off x="6949440" y="2011680"/>
            <a:ext cx="4572000" cy="4023360"/>
          </a:xfrm>
          <a:prstGeom prst="roundRect">
            <a:avLst>
              <a:gd name="adj" fmla="val 6000"/>
            </a:avLst>
          </a:prstGeom>
          <a:noFill/>
          <a:ln w="317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40080" y="2743200"/>
            <a:ext cx="5852160" cy="2377440"/>
          </a:xfrm>
          <a:prstGeom prst="roundRect">
            <a:avLst>
              <a:gd name="adj" fmla="val 6000"/>
            </a:avLst>
          </a:prstGeom>
          <a:solidFill>
            <a:srgbClr val="1737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3108960"/>
            <a:ext cx="5120640" cy="1737360"/>
          </a:xfrm>
          <a:prstGeom prst="rect">
            <a:avLst/>
          </a:prstGeom>
          <a:noFill/>
        </p:spPr>
        <p:txBody>
          <a:bodyPr wrap="square" anchor="ctr" lIns="0" rIns="0" tIns="0" bIns="0">
            <a:spAutoFit/>
          </a:bodyPr>
          <a:lstStyle/>
          <a:p>
            <a:pPr algn="l">
              <a:lnSpc>
                <a:spcPct val="150000"/>
              </a:lnSpc>
            </a:pPr>
            <a:r>
              <a:rPr sz="2400" b="1" i="0">
                <a:solidFill>
                  <a:srgbClr val="FFFFFF"/>
                </a:solidFill>
                <a:latin typeface="Yu Gothic"/>
              </a:rPr>
              <a:t>「災害から人とペットの命を守るための</a:t>
            </a:r>
          </a:p>
          <a:p>
            <a:pPr algn="l">
              <a:lnSpc>
                <a:spcPct val="150000"/>
              </a:lnSpc>
            </a:pPr>
            <a:r>
              <a:rPr sz="2400" b="1" i="0">
                <a:solidFill>
                  <a:srgbClr val="FFFFFF"/>
                </a:solidFill>
                <a:latin typeface="Yu Gothic"/>
              </a:rPr>
              <a:t>備えを、地域に広める人」</a:t>
            </a:r>
          </a:p>
        </p:txBody>
      </p:sp>
      <p:sp>
        <p:nvSpPr>
          <p:cNvPr id="10" name="TextBox 9"/>
          <p:cNvSpPr txBox="1"/>
          <p:nvPr/>
        </p:nvSpPr>
        <p:spPr>
          <a:xfrm>
            <a:off x="457200" y="6492240"/>
            <a:ext cx="6400800" cy="274320"/>
          </a:xfrm>
          <a:prstGeom prst="rect">
            <a:avLst/>
          </a:prstGeom>
          <a:noFill/>
        </p:spPr>
        <p:txBody>
          <a:bodyPr wrap="square" anchor="t" lIns="0" rIns="0" tIns="0" bIns="0">
            <a:spAutoFit/>
          </a:bodyPr>
          <a:lstStyle/>
          <a:p>
            <a:pPr algn="l">
              <a:lnSpc>
                <a:spcPct val="115000"/>
              </a:lnSpc>
            </a:pPr>
            <a:r>
              <a:rPr sz="900" b="0" i="0">
                <a:solidFill>
                  <a:srgbClr val="767C85"/>
                </a:solidFill>
                <a:latin typeface="Yu Gothic"/>
              </a:rPr>
              <a:t>一般社団法人 ペット防災アドバイザー協会　PDPA-101</a:t>
            </a:r>
          </a:p>
        </p:txBody>
      </p:sp>
      <p:sp>
        <p:nvSpPr>
          <p:cNvPr id="11" name="TextBox 10"/>
          <p:cNvSpPr txBox="1"/>
          <p:nvPr/>
        </p:nvSpPr>
        <p:spPr>
          <a:xfrm>
            <a:off x="11521440" y="6492240"/>
            <a:ext cx="457200" cy="274320"/>
          </a:xfrm>
          <a:prstGeom prst="rect">
            <a:avLst/>
          </a:prstGeom>
          <a:noFill/>
        </p:spPr>
        <p:txBody>
          <a:bodyPr wrap="square" anchor="t" lIns="0" rIns="0" tIns="0" bIns="0">
            <a:spAutoFit/>
          </a:bodyPr>
          <a:lstStyle/>
          <a:p>
            <a:pPr algn="r">
              <a:lnSpc>
                <a:spcPct val="115000"/>
              </a:lnSpc>
            </a:pPr>
            <a:r>
              <a:rPr sz="900" b="0" i="0">
                <a:solidFill>
                  <a:srgbClr val="767C85"/>
                </a:solidFill>
                <a:latin typeface="Yu Gothic"/>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3F5F7"/>
        </a:solidFill>
        <a:effectLst/>
      </p:bgPr>
    </p:bg>
    <p:spTree>
      <p:nvGrpSpPr>
        <p:cNvPr id="1" name=""/>
        <p:cNvGrpSpPr/>
        <p:nvPr/>
      </p:nvGrpSpPr>
      <p:grpSpPr/>
      <p:sp>
        <p:nvSpPr>
          <p:cNvPr id="2" name="TextBox 1"/>
          <p:cNvSpPr txBox="1"/>
          <p:nvPr/>
        </p:nvSpPr>
        <p:spPr>
          <a:xfrm>
            <a:off x="640080" y="502920"/>
            <a:ext cx="4572000" cy="365760"/>
          </a:xfrm>
          <a:prstGeom prst="rect">
            <a:avLst/>
          </a:prstGeom>
          <a:noFill/>
        </p:spPr>
        <p:txBody>
          <a:bodyPr wrap="square" anchor="t" lIns="0" rIns="0" tIns="0" bIns="0">
            <a:spAutoFit/>
          </a:bodyPr>
          <a:lstStyle/>
          <a:p>
            <a:pPr algn="l">
              <a:lnSpc>
                <a:spcPct val="115000"/>
              </a:lnSpc>
            </a:pPr>
            <a:r>
              <a:rPr sz="1400" b="1" i="0">
                <a:solidFill>
                  <a:srgbClr val="F5A623"/>
                </a:solidFill>
                <a:latin typeface="Yu Gothic"/>
              </a:rPr>
              <a:t>RISK IN JAPAN</a:t>
            </a:r>
          </a:p>
        </p:txBody>
      </p:sp>
      <p:sp>
        <p:nvSpPr>
          <p:cNvPr id="3" name="TextBox 2"/>
          <p:cNvSpPr txBox="1"/>
          <p:nvPr/>
        </p:nvSpPr>
        <p:spPr>
          <a:xfrm>
            <a:off x="640080" y="822960"/>
            <a:ext cx="10515600" cy="822960"/>
          </a:xfrm>
          <a:prstGeom prst="rect">
            <a:avLst/>
          </a:prstGeom>
          <a:noFill/>
        </p:spPr>
        <p:txBody>
          <a:bodyPr wrap="square" anchor="t" lIns="0" rIns="0" tIns="0" bIns="0">
            <a:spAutoFit/>
          </a:bodyPr>
          <a:lstStyle/>
          <a:p>
            <a:pPr algn="l">
              <a:lnSpc>
                <a:spcPct val="115000"/>
              </a:lnSpc>
            </a:pPr>
            <a:r>
              <a:rPr sz="3000" b="1" i="0">
                <a:solidFill>
                  <a:srgbClr val="17375E"/>
                </a:solidFill>
                <a:latin typeface="Yu Gothic"/>
              </a:rPr>
              <a:t>日本は世界有数の災害大国</a:t>
            </a:r>
          </a:p>
        </p:txBody>
      </p:sp>
      <p:sp>
        <p:nvSpPr>
          <p:cNvPr id="4" name="Rectangle 3"/>
          <p:cNvSpPr/>
          <p:nvPr/>
        </p:nvSpPr>
        <p:spPr>
          <a:xfrm>
            <a:off x="640080" y="1600200"/>
            <a:ext cx="822960" cy="3810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3667" y="2194560"/>
            <a:ext cx="1737360" cy="17373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disaster_earthquake.jpg"/>
          <p:cNvPicPr>
            <a:picLocks noChangeAspect="1"/>
          </p:cNvPicPr>
          <p:nvPr/>
        </p:nvPicPr>
        <p:blipFill>
          <a:blip r:embed="rId2"/>
          <a:srcRect l="22727" r="22727"/>
          <a:stretch>
            <a:fillRect/>
          </a:stretch>
        </p:blipFill>
        <p:spPr>
          <a:xfrm>
            <a:off x="83667" y="2194560"/>
            <a:ext cx="1737360" cy="1737360"/>
          </a:xfrm>
          <a:prstGeom prst="rect">
            <a:avLst/>
          </a:prstGeom>
        </p:spPr>
      </p:pic>
      <p:sp>
        <p:nvSpPr>
          <p:cNvPr id="7" name="Rounded Rectangle 6"/>
          <p:cNvSpPr/>
          <p:nvPr/>
        </p:nvSpPr>
        <p:spPr>
          <a:xfrm>
            <a:off x="83667" y="2194560"/>
            <a:ext cx="1737360" cy="1737360"/>
          </a:xfrm>
          <a:prstGeom prst="roundRect">
            <a:avLst>
              <a:gd name="adj" fmla="val 6000"/>
            </a:avLst>
          </a:prstGeom>
          <a:noFill/>
          <a:ln w="317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3493" y="4069080"/>
            <a:ext cx="2011680" cy="365760"/>
          </a:xfrm>
          <a:prstGeom prst="rect">
            <a:avLst/>
          </a:prstGeom>
          <a:noFill/>
        </p:spPr>
        <p:txBody>
          <a:bodyPr wrap="square" anchor="t" lIns="0" rIns="0" tIns="0" bIns="0">
            <a:spAutoFit/>
          </a:bodyPr>
          <a:lstStyle/>
          <a:p>
            <a:pPr algn="ctr">
              <a:lnSpc>
                <a:spcPct val="115000"/>
              </a:lnSpc>
            </a:pPr>
            <a:r>
              <a:rPr sz="1500" b="1" i="0">
                <a:solidFill>
                  <a:srgbClr val="17375E"/>
                </a:solidFill>
                <a:latin typeface="Yu Gothic"/>
              </a:rPr>
              <a:t>地震</a:t>
            </a:r>
          </a:p>
        </p:txBody>
      </p:sp>
      <p:sp>
        <p:nvSpPr>
          <p:cNvPr id="9" name="Rounded Rectangle 8"/>
          <p:cNvSpPr/>
          <p:nvPr/>
        </p:nvSpPr>
        <p:spPr>
          <a:xfrm>
            <a:off x="2141067" y="2194560"/>
            <a:ext cx="1737360" cy="17373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disaster_typhoon.jpg"/>
          <p:cNvPicPr>
            <a:picLocks noChangeAspect="1"/>
          </p:cNvPicPr>
          <p:nvPr/>
        </p:nvPicPr>
        <p:blipFill>
          <a:blip r:embed="rId3"/>
          <a:srcRect l="22727" r="22727"/>
          <a:stretch>
            <a:fillRect/>
          </a:stretch>
        </p:blipFill>
        <p:spPr>
          <a:xfrm>
            <a:off x="2141067" y="2194560"/>
            <a:ext cx="1737360" cy="1737360"/>
          </a:xfrm>
          <a:prstGeom prst="rect">
            <a:avLst/>
          </a:prstGeom>
        </p:spPr>
      </p:pic>
      <p:sp>
        <p:nvSpPr>
          <p:cNvPr id="11" name="Rounded Rectangle 10"/>
          <p:cNvSpPr/>
          <p:nvPr/>
        </p:nvSpPr>
        <p:spPr>
          <a:xfrm>
            <a:off x="2141067" y="2194560"/>
            <a:ext cx="1737360" cy="1737360"/>
          </a:xfrm>
          <a:prstGeom prst="roundRect">
            <a:avLst>
              <a:gd name="adj" fmla="val 6000"/>
            </a:avLst>
          </a:prstGeom>
          <a:noFill/>
          <a:ln w="317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003907" y="4069080"/>
            <a:ext cx="2011680" cy="365760"/>
          </a:xfrm>
          <a:prstGeom prst="rect">
            <a:avLst/>
          </a:prstGeom>
          <a:noFill/>
        </p:spPr>
        <p:txBody>
          <a:bodyPr wrap="square" anchor="t" lIns="0" rIns="0" tIns="0" bIns="0">
            <a:spAutoFit/>
          </a:bodyPr>
          <a:lstStyle/>
          <a:p>
            <a:pPr algn="ctr">
              <a:lnSpc>
                <a:spcPct val="115000"/>
              </a:lnSpc>
            </a:pPr>
            <a:r>
              <a:rPr sz="1500" b="1" i="0">
                <a:solidFill>
                  <a:srgbClr val="17375E"/>
                </a:solidFill>
                <a:latin typeface="Yu Gothic"/>
              </a:rPr>
              <a:t>台風</a:t>
            </a:r>
          </a:p>
        </p:txBody>
      </p:sp>
      <p:sp>
        <p:nvSpPr>
          <p:cNvPr id="13" name="Rounded Rectangle 12"/>
          <p:cNvSpPr/>
          <p:nvPr/>
        </p:nvSpPr>
        <p:spPr>
          <a:xfrm>
            <a:off x="4198467" y="2194560"/>
            <a:ext cx="1737360" cy="17373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disaster_flood.jpg"/>
          <p:cNvPicPr>
            <a:picLocks noChangeAspect="1"/>
          </p:cNvPicPr>
          <p:nvPr/>
        </p:nvPicPr>
        <p:blipFill>
          <a:blip r:embed="rId4"/>
          <a:srcRect l="22727" r="22727"/>
          <a:stretch>
            <a:fillRect/>
          </a:stretch>
        </p:blipFill>
        <p:spPr>
          <a:xfrm>
            <a:off x="4198467" y="2194560"/>
            <a:ext cx="1737360" cy="1737360"/>
          </a:xfrm>
          <a:prstGeom prst="rect">
            <a:avLst/>
          </a:prstGeom>
        </p:spPr>
      </p:pic>
      <p:sp>
        <p:nvSpPr>
          <p:cNvPr id="15" name="Rounded Rectangle 14"/>
          <p:cNvSpPr/>
          <p:nvPr/>
        </p:nvSpPr>
        <p:spPr>
          <a:xfrm>
            <a:off x="4198467" y="2194560"/>
            <a:ext cx="1737360" cy="1737360"/>
          </a:xfrm>
          <a:prstGeom prst="roundRect">
            <a:avLst>
              <a:gd name="adj" fmla="val 6000"/>
            </a:avLst>
          </a:prstGeom>
          <a:noFill/>
          <a:ln w="317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61307" y="4069080"/>
            <a:ext cx="2011680" cy="365760"/>
          </a:xfrm>
          <a:prstGeom prst="rect">
            <a:avLst/>
          </a:prstGeom>
          <a:noFill/>
        </p:spPr>
        <p:txBody>
          <a:bodyPr wrap="square" anchor="t" lIns="0" rIns="0" tIns="0" bIns="0">
            <a:spAutoFit/>
          </a:bodyPr>
          <a:lstStyle/>
          <a:p>
            <a:pPr algn="ctr">
              <a:lnSpc>
                <a:spcPct val="115000"/>
              </a:lnSpc>
            </a:pPr>
            <a:r>
              <a:rPr sz="1500" b="1" i="0">
                <a:solidFill>
                  <a:srgbClr val="17375E"/>
                </a:solidFill>
                <a:latin typeface="Yu Gothic"/>
              </a:rPr>
              <a:t>豪雨</a:t>
            </a:r>
          </a:p>
        </p:txBody>
      </p:sp>
      <p:sp>
        <p:nvSpPr>
          <p:cNvPr id="17" name="Rounded Rectangle 16"/>
          <p:cNvSpPr/>
          <p:nvPr/>
        </p:nvSpPr>
        <p:spPr>
          <a:xfrm>
            <a:off x="6255867" y="2194560"/>
            <a:ext cx="1737360" cy="17373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disaster_landslide.jpg"/>
          <p:cNvPicPr>
            <a:picLocks noChangeAspect="1"/>
          </p:cNvPicPr>
          <p:nvPr/>
        </p:nvPicPr>
        <p:blipFill>
          <a:blip r:embed="rId5"/>
          <a:srcRect l="22727" r="22727"/>
          <a:stretch>
            <a:fillRect/>
          </a:stretch>
        </p:blipFill>
        <p:spPr>
          <a:xfrm>
            <a:off x="6255867" y="2194560"/>
            <a:ext cx="1737360" cy="1737360"/>
          </a:xfrm>
          <a:prstGeom prst="rect">
            <a:avLst/>
          </a:prstGeom>
        </p:spPr>
      </p:pic>
      <p:sp>
        <p:nvSpPr>
          <p:cNvPr id="19" name="Rounded Rectangle 18"/>
          <p:cNvSpPr/>
          <p:nvPr/>
        </p:nvSpPr>
        <p:spPr>
          <a:xfrm>
            <a:off x="6255867" y="2194560"/>
            <a:ext cx="1737360" cy="1737360"/>
          </a:xfrm>
          <a:prstGeom prst="roundRect">
            <a:avLst>
              <a:gd name="adj" fmla="val 6000"/>
            </a:avLst>
          </a:prstGeom>
          <a:noFill/>
          <a:ln w="317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118707" y="4069080"/>
            <a:ext cx="2011680" cy="365760"/>
          </a:xfrm>
          <a:prstGeom prst="rect">
            <a:avLst/>
          </a:prstGeom>
          <a:noFill/>
        </p:spPr>
        <p:txBody>
          <a:bodyPr wrap="square" anchor="t" lIns="0" rIns="0" tIns="0" bIns="0">
            <a:spAutoFit/>
          </a:bodyPr>
          <a:lstStyle/>
          <a:p>
            <a:pPr algn="ctr">
              <a:lnSpc>
                <a:spcPct val="115000"/>
              </a:lnSpc>
            </a:pPr>
            <a:r>
              <a:rPr sz="1500" b="1" i="0">
                <a:solidFill>
                  <a:srgbClr val="17375E"/>
                </a:solidFill>
                <a:latin typeface="Yu Gothic"/>
              </a:rPr>
              <a:t>土砂災害</a:t>
            </a:r>
          </a:p>
        </p:txBody>
      </p:sp>
      <p:sp>
        <p:nvSpPr>
          <p:cNvPr id="21" name="Rounded Rectangle 20"/>
          <p:cNvSpPr/>
          <p:nvPr/>
        </p:nvSpPr>
        <p:spPr>
          <a:xfrm>
            <a:off x="8313267" y="2194560"/>
            <a:ext cx="1737360" cy="17373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disaster_volcano.jpg"/>
          <p:cNvPicPr>
            <a:picLocks noChangeAspect="1"/>
          </p:cNvPicPr>
          <p:nvPr/>
        </p:nvPicPr>
        <p:blipFill>
          <a:blip r:embed="rId6"/>
          <a:srcRect l="22727" r="22727"/>
          <a:stretch>
            <a:fillRect/>
          </a:stretch>
        </p:blipFill>
        <p:spPr>
          <a:xfrm>
            <a:off x="8313267" y="2194560"/>
            <a:ext cx="1737360" cy="1737360"/>
          </a:xfrm>
          <a:prstGeom prst="rect">
            <a:avLst/>
          </a:prstGeom>
        </p:spPr>
      </p:pic>
      <p:sp>
        <p:nvSpPr>
          <p:cNvPr id="23" name="Rounded Rectangle 22"/>
          <p:cNvSpPr/>
          <p:nvPr/>
        </p:nvSpPr>
        <p:spPr>
          <a:xfrm>
            <a:off x="8313267" y="2194560"/>
            <a:ext cx="1737360" cy="1737360"/>
          </a:xfrm>
          <a:prstGeom prst="roundRect">
            <a:avLst>
              <a:gd name="adj" fmla="val 6000"/>
            </a:avLst>
          </a:prstGeom>
          <a:noFill/>
          <a:ln w="317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176107" y="4069080"/>
            <a:ext cx="2011680" cy="365760"/>
          </a:xfrm>
          <a:prstGeom prst="rect">
            <a:avLst/>
          </a:prstGeom>
          <a:noFill/>
        </p:spPr>
        <p:txBody>
          <a:bodyPr wrap="square" anchor="t" lIns="0" rIns="0" tIns="0" bIns="0">
            <a:spAutoFit/>
          </a:bodyPr>
          <a:lstStyle/>
          <a:p>
            <a:pPr algn="ctr">
              <a:lnSpc>
                <a:spcPct val="115000"/>
              </a:lnSpc>
            </a:pPr>
            <a:r>
              <a:rPr sz="1500" b="1" i="0">
                <a:solidFill>
                  <a:srgbClr val="17375E"/>
                </a:solidFill>
                <a:latin typeface="Yu Gothic"/>
              </a:rPr>
              <a:t>火山</a:t>
            </a:r>
          </a:p>
        </p:txBody>
      </p:sp>
      <p:sp>
        <p:nvSpPr>
          <p:cNvPr id="25" name="Rounded Rectangle 24"/>
          <p:cNvSpPr/>
          <p:nvPr/>
        </p:nvSpPr>
        <p:spPr>
          <a:xfrm>
            <a:off x="10370667" y="2194560"/>
            <a:ext cx="1737360" cy="17373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disaster_snow.jpg"/>
          <p:cNvPicPr>
            <a:picLocks noChangeAspect="1"/>
          </p:cNvPicPr>
          <p:nvPr/>
        </p:nvPicPr>
        <p:blipFill>
          <a:blip r:embed="rId7"/>
          <a:srcRect l="22727" r="22727"/>
          <a:stretch>
            <a:fillRect/>
          </a:stretch>
        </p:blipFill>
        <p:spPr>
          <a:xfrm>
            <a:off x="10370667" y="2194560"/>
            <a:ext cx="1737360" cy="1737360"/>
          </a:xfrm>
          <a:prstGeom prst="rect">
            <a:avLst/>
          </a:prstGeom>
        </p:spPr>
      </p:pic>
      <p:sp>
        <p:nvSpPr>
          <p:cNvPr id="27" name="Rounded Rectangle 26"/>
          <p:cNvSpPr/>
          <p:nvPr/>
        </p:nvSpPr>
        <p:spPr>
          <a:xfrm>
            <a:off x="10370667" y="2194560"/>
            <a:ext cx="1737360" cy="1737360"/>
          </a:xfrm>
          <a:prstGeom prst="roundRect">
            <a:avLst>
              <a:gd name="adj" fmla="val 6000"/>
            </a:avLst>
          </a:prstGeom>
          <a:noFill/>
          <a:ln w="317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233507" y="4069080"/>
            <a:ext cx="2011680" cy="365760"/>
          </a:xfrm>
          <a:prstGeom prst="rect">
            <a:avLst/>
          </a:prstGeom>
          <a:noFill/>
        </p:spPr>
        <p:txBody>
          <a:bodyPr wrap="square" anchor="t" lIns="0" rIns="0" tIns="0" bIns="0">
            <a:spAutoFit/>
          </a:bodyPr>
          <a:lstStyle/>
          <a:p>
            <a:pPr algn="ctr">
              <a:lnSpc>
                <a:spcPct val="115000"/>
              </a:lnSpc>
            </a:pPr>
            <a:r>
              <a:rPr sz="1500" b="1" i="0">
                <a:solidFill>
                  <a:srgbClr val="17375E"/>
                </a:solidFill>
                <a:latin typeface="Yu Gothic"/>
              </a:rPr>
              <a:t>豪雪</a:t>
            </a:r>
          </a:p>
        </p:txBody>
      </p:sp>
      <p:sp>
        <p:nvSpPr>
          <p:cNvPr id="29" name="TextBox 28"/>
          <p:cNvSpPr txBox="1"/>
          <p:nvPr/>
        </p:nvSpPr>
        <p:spPr>
          <a:xfrm>
            <a:off x="457200" y="6492240"/>
            <a:ext cx="6400800" cy="274320"/>
          </a:xfrm>
          <a:prstGeom prst="rect">
            <a:avLst/>
          </a:prstGeom>
          <a:noFill/>
        </p:spPr>
        <p:txBody>
          <a:bodyPr wrap="square" anchor="t" lIns="0" rIns="0" tIns="0" bIns="0">
            <a:spAutoFit/>
          </a:bodyPr>
          <a:lstStyle/>
          <a:p>
            <a:pPr algn="l">
              <a:lnSpc>
                <a:spcPct val="115000"/>
              </a:lnSpc>
            </a:pPr>
            <a:r>
              <a:rPr sz="900" b="0" i="0">
                <a:solidFill>
                  <a:srgbClr val="767C85"/>
                </a:solidFill>
                <a:latin typeface="Yu Gothic"/>
              </a:rPr>
              <a:t>一般社団法人 ペット防災アドバイザー協会　PDPA-101</a:t>
            </a:r>
          </a:p>
        </p:txBody>
      </p:sp>
      <p:sp>
        <p:nvSpPr>
          <p:cNvPr id="30" name="TextBox 29"/>
          <p:cNvSpPr txBox="1"/>
          <p:nvPr/>
        </p:nvSpPr>
        <p:spPr>
          <a:xfrm>
            <a:off x="11521440" y="6492240"/>
            <a:ext cx="457200" cy="274320"/>
          </a:xfrm>
          <a:prstGeom prst="rect">
            <a:avLst/>
          </a:prstGeom>
          <a:noFill/>
        </p:spPr>
        <p:txBody>
          <a:bodyPr wrap="square" anchor="t" lIns="0" rIns="0" tIns="0" bIns="0">
            <a:spAutoFit/>
          </a:bodyPr>
          <a:lstStyle/>
          <a:p>
            <a:pPr algn="r">
              <a:lnSpc>
                <a:spcPct val="115000"/>
              </a:lnSpc>
            </a:pPr>
            <a:r>
              <a:rPr sz="900" b="0" i="0">
                <a:solidFill>
                  <a:srgbClr val="767C85"/>
                </a:solidFill>
                <a:latin typeface="Yu Gothic"/>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3F5F7"/>
        </a:solidFill>
        <a:effectLst/>
      </p:bgPr>
    </p:bg>
    <p:spTree>
      <p:nvGrpSpPr>
        <p:cNvPr id="1" name=""/>
        <p:cNvGrpSpPr/>
        <p:nvPr/>
      </p:nvGrpSpPr>
      <p:grpSpPr/>
      <p:sp>
        <p:nvSpPr>
          <p:cNvPr id="2" name="TextBox 1"/>
          <p:cNvSpPr txBox="1"/>
          <p:nvPr/>
        </p:nvSpPr>
        <p:spPr>
          <a:xfrm>
            <a:off x="640080" y="502920"/>
            <a:ext cx="4572000" cy="365760"/>
          </a:xfrm>
          <a:prstGeom prst="rect">
            <a:avLst/>
          </a:prstGeom>
          <a:noFill/>
        </p:spPr>
        <p:txBody>
          <a:bodyPr wrap="square" anchor="t" lIns="0" rIns="0" tIns="0" bIns="0">
            <a:spAutoFit/>
          </a:bodyPr>
          <a:lstStyle/>
          <a:p>
            <a:pPr algn="l">
              <a:lnSpc>
                <a:spcPct val="115000"/>
              </a:lnSpc>
            </a:pPr>
            <a:r>
              <a:rPr sz="1400" b="1" i="0">
                <a:solidFill>
                  <a:srgbClr val="F5A623"/>
                </a:solidFill>
                <a:latin typeface="Yu Gothic"/>
              </a:rPr>
              <a:t>OWNER'S ANXIETY</a:t>
            </a:r>
          </a:p>
        </p:txBody>
      </p:sp>
      <p:sp>
        <p:nvSpPr>
          <p:cNvPr id="3" name="TextBox 2"/>
          <p:cNvSpPr txBox="1"/>
          <p:nvPr/>
        </p:nvSpPr>
        <p:spPr>
          <a:xfrm>
            <a:off x="640080" y="822960"/>
            <a:ext cx="10515600" cy="822960"/>
          </a:xfrm>
          <a:prstGeom prst="rect">
            <a:avLst/>
          </a:prstGeom>
          <a:noFill/>
        </p:spPr>
        <p:txBody>
          <a:bodyPr wrap="square" anchor="t" lIns="0" rIns="0" tIns="0" bIns="0">
            <a:spAutoFit/>
          </a:bodyPr>
          <a:lstStyle/>
          <a:p>
            <a:pPr algn="l">
              <a:lnSpc>
                <a:spcPct val="115000"/>
              </a:lnSpc>
            </a:pPr>
            <a:r>
              <a:rPr sz="3000" b="1" i="0">
                <a:solidFill>
                  <a:srgbClr val="17375E"/>
                </a:solidFill>
                <a:latin typeface="Yu Gothic"/>
              </a:rPr>
              <a:t>飼い主が抱える不安</a:t>
            </a:r>
          </a:p>
        </p:txBody>
      </p:sp>
      <p:sp>
        <p:nvSpPr>
          <p:cNvPr id="4" name="Rectangle 3"/>
          <p:cNvSpPr/>
          <p:nvPr/>
        </p:nvSpPr>
        <p:spPr>
          <a:xfrm>
            <a:off x="640080" y="1600200"/>
            <a:ext cx="822960" cy="3810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2011680"/>
            <a:ext cx="4206240" cy="40233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anxious_owner.jpg"/>
          <p:cNvPicPr>
            <a:picLocks noChangeAspect="1"/>
          </p:cNvPicPr>
          <p:nvPr/>
        </p:nvPicPr>
        <p:blipFill>
          <a:blip r:embed="rId2"/>
          <a:srcRect l="21488" r="21488"/>
          <a:stretch>
            <a:fillRect/>
          </a:stretch>
        </p:blipFill>
        <p:spPr>
          <a:xfrm>
            <a:off x="640080" y="2011680"/>
            <a:ext cx="4206240" cy="4023360"/>
          </a:xfrm>
          <a:prstGeom prst="rect">
            <a:avLst/>
          </a:prstGeom>
        </p:spPr>
      </p:pic>
      <p:sp>
        <p:nvSpPr>
          <p:cNvPr id="7" name="Rounded Rectangle 6"/>
          <p:cNvSpPr/>
          <p:nvPr/>
        </p:nvSpPr>
        <p:spPr>
          <a:xfrm>
            <a:off x="640080" y="2011680"/>
            <a:ext cx="4206240" cy="4023360"/>
          </a:xfrm>
          <a:prstGeom prst="roundRect">
            <a:avLst>
              <a:gd name="adj" fmla="val 6000"/>
            </a:avLst>
          </a:prstGeom>
          <a:noFill/>
          <a:ln w="317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5257800" y="2194560"/>
            <a:ext cx="457200" cy="457200"/>
          </a:xfrm>
          <a:prstGeom prst="ellipse">
            <a:avLst/>
          </a:prstGeom>
          <a:solidFill>
            <a:srgbClr val="D988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FFFFFF"/>
                </a:solidFill>
                <a:latin typeface="Yu Gothic"/>
              </a:rPr>
              <a:t>1</a:t>
            </a:r>
          </a:p>
        </p:txBody>
      </p:sp>
      <p:sp>
        <p:nvSpPr>
          <p:cNvPr id="9" name="TextBox 8"/>
          <p:cNvSpPr txBox="1"/>
          <p:nvPr/>
        </p:nvSpPr>
        <p:spPr>
          <a:xfrm>
            <a:off x="5943600" y="2103120"/>
            <a:ext cx="5577840" cy="1005840"/>
          </a:xfrm>
          <a:prstGeom prst="rect">
            <a:avLst/>
          </a:prstGeom>
          <a:noFill/>
        </p:spPr>
        <p:txBody>
          <a:bodyPr wrap="square" anchor="ctr" lIns="0" rIns="0" tIns="0" bIns="0">
            <a:spAutoFit/>
          </a:bodyPr>
          <a:lstStyle/>
          <a:p>
            <a:pPr algn="l">
              <a:lnSpc>
                <a:spcPct val="130000"/>
              </a:lnSpc>
            </a:pPr>
            <a:r>
              <a:rPr sz="1800" b="1" i="0">
                <a:solidFill>
                  <a:srgbClr val="1F2937"/>
                </a:solidFill>
                <a:latin typeface="Yu Gothic"/>
              </a:rPr>
              <a:t>避難所にペットを連れて行けるのか分からない</a:t>
            </a:r>
          </a:p>
        </p:txBody>
      </p:sp>
      <p:sp>
        <p:nvSpPr>
          <p:cNvPr id="10" name="Oval 9"/>
          <p:cNvSpPr/>
          <p:nvPr/>
        </p:nvSpPr>
        <p:spPr>
          <a:xfrm>
            <a:off x="5257800" y="3429000"/>
            <a:ext cx="457200" cy="457200"/>
          </a:xfrm>
          <a:prstGeom prst="ellipse">
            <a:avLst/>
          </a:prstGeom>
          <a:solidFill>
            <a:srgbClr val="D988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FFFFFF"/>
                </a:solidFill>
                <a:latin typeface="Yu Gothic"/>
              </a:rPr>
              <a:t>2</a:t>
            </a:r>
          </a:p>
        </p:txBody>
      </p:sp>
      <p:sp>
        <p:nvSpPr>
          <p:cNvPr id="11" name="TextBox 10"/>
          <p:cNvSpPr txBox="1"/>
          <p:nvPr/>
        </p:nvSpPr>
        <p:spPr>
          <a:xfrm>
            <a:off x="5943600" y="3337560"/>
            <a:ext cx="5577840" cy="1005840"/>
          </a:xfrm>
          <a:prstGeom prst="rect">
            <a:avLst/>
          </a:prstGeom>
          <a:noFill/>
        </p:spPr>
        <p:txBody>
          <a:bodyPr wrap="square" anchor="ctr" lIns="0" rIns="0" tIns="0" bIns="0">
            <a:spAutoFit/>
          </a:bodyPr>
          <a:lstStyle/>
          <a:p>
            <a:pPr algn="l">
              <a:lnSpc>
                <a:spcPct val="130000"/>
              </a:lnSpc>
            </a:pPr>
            <a:r>
              <a:rPr sz="1800" b="1" i="0">
                <a:solidFill>
                  <a:srgbClr val="1F2937"/>
                </a:solidFill>
                <a:latin typeface="Yu Gothic"/>
              </a:rPr>
              <a:t>何を備蓄すればいいのか分からない</a:t>
            </a:r>
          </a:p>
        </p:txBody>
      </p:sp>
      <p:sp>
        <p:nvSpPr>
          <p:cNvPr id="12" name="Oval 11"/>
          <p:cNvSpPr/>
          <p:nvPr/>
        </p:nvSpPr>
        <p:spPr>
          <a:xfrm>
            <a:off x="5257800" y="4663440"/>
            <a:ext cx="457200" cy="457200"/>
          </a:xfrm>
          <a:prstGeom prst="ellipse">
            <a:avLst/>
          </a:prstGeom>
          <a:solidFill>
            <a:srgbClr val="D988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FFFFFF"/>
                </a:solidFill>
                <a:latin typeface="Yu Gothic"/>
              </a:rPr>
              <a:t>3</a:t>
            </a:r>
          </a:p>
        </p:txBody>
      </p:sp>
      <p:sp>
        <p:nvSpPr>
          <p:cNvPr id="13" name="TextBox 12"/>
          <p:cNvSpPr txBox="1"/>
          <p:nvPr/>
        </p:nvSpPr>
        <p:spPr>
          <a:xfrm>
            <a:off x="5943600" y="4572000"/>
            <a:ext cx="5577840" cy="1005840"/>
          </a:xfrm>
          <a:prstGeom prst="rect">
            <a:avLst/>
          </a:prstGeom>
          <a:noFill/>
        </p:spPr>
        <p:txBody>
          <a:bodyPr wrap="square" anchor="ctr" lIns="0" rIns="0" tIns="0" bIns="0">
            <a:spAutoFit/>
          </a:bodyPr>
          <a:lstStyle/>
          <a:p>
            <a:pPr algn="l">
              <a:lnSpc>
                <a:spcPct val="130000"/>
              </a:lnSpc>
            </a:pPr>
            <a:r>
              <a:rPr sz="1800" b="1" i="0">
                <a:solidFill>
                  <a:srgbClr val="1F2937"/>
                </a:solidFill>
                <a:latin typeface="Yu Gothic"/>
              </a:rPr>
              <a:t>自分が動けなくなったらペットはどうなるのか不安</a:t>
            </a:r>
          </a:p>
        </p:txBody>
      </p:sp>
      <p:sp>
        <p:nvSpPr>
          <p:cNvPr id="14" name="TextBox 13"/>
          <p:cNvSpPr txBox="1"/>
          <p:nvPr/>
        </p:nvSpPr>
        <p:spPr>
          <a:xfrm>
            <a:off x="457200" y="6492240"/>
            <a:ext cx="6400800" cy="274320"/>
          </a:xfrm>
          <a:prstGeom prst="rect">
            <a:avLst/>
          </a:prstGeom>
          <a:noFill/>
        </p:spPr>
        <p:txBody>
          <a:bodyPr wrap="square" anchor="t" lIns="0" rIns="0" tIns="0" bIns="0">
            <a:spAutoFit/>
          </a:bodyPr>
          <a:lstStyle/>
          <a:p>
            <a:pPr algn="l">
              <a:lnSpc>
                <a:spcPct val="115000"/>
              </a:lnSpc>
            </a:pPr>
            <a:r>
              <a:rPr sz="900" b="0" i="0">
                <a:solidFill>
                  <a:srgbClr val="767C85"/>
                </a:solidFill>
                <a:latin typeface="Yu Gothic"/>
              </a:rPr>
              <a:t>一般社団法人 ペット防災アドバイザー協会　PDPA-101</a:t>
            </a:r>
          </a:p>
        </p:txBody>
      </p:sp>
      <p:sp>
        <p:nvSpPr>
          <p:cNvPr id="15" name="TextBox 14"/>
          <p:cNvSpPr txBox="1"/>
          <p:nvPr/>
        </p:nvSpPr>
        <p:spPr>
          <a:xfrm>
            <a:off x="11521440" y="6492240"/>
            <a:ext cx="457200" cy="274320"/>
          </a:xfrm>
          <a:prstGeom prst="rect">
            <a:avLst/>
          </a:prstGeom>
          <a:noFill/>
        </p:spPr>
        <p:txBody>
          <a:bodyPr wrap="square" anchor="t" lIns="0" rIns="0" tIns="0" bIns="0">
            <a:spAutoFit/>
          </a:bodyPr>
          <a:lstStyle/>
          <a:p>
            <a:pPr algn="r">
              <a:lnSpc>
                <a:spcPct val="115000"/>
              </a:lnSpc>
            </a:pPr>
            <a:r>
              <a:rPr sz="900" b="0" i="0">
                <a:solidFill>
                  <a:srgbClr val="767C85"/>
                </a:solidFill>
                <a:latin typeface="Yu Gothic"/>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3F5F7"/>
        </a:solidFill>
        <a:effectLst/>
      </p:bgPr>
    </p:bg>
    <p:spTree>
      <p:nvGrpSpPr>
        <p:cNvPr id="1" name=""/>
        <p:cNvGrpSpPr/>
        <p:nvPr/>
      </p:nvGrpSpPr>
      <p:grpSpPr/>
      <p:sp>
        <p:nvSpPr>
          <p:cNvPr id="2" name="TextBox 1"/>
          <p:cNvSpPr txBox="1"/>
          <p:nvPr/>
        </p:nvSpPr>
        <p:spPr>
          <a:xfrm>
            <a:off x="640080" y="502920"/>
            <a:ext cx="4572000" cy="365760"/>
          </a:xfrm>
          <a:prstGeom prst="rect">
            <a:avLst/>
          </a:prstGeom>
          <a:noFill/>
        </p:spPr>
        <p:txBody>
          <a:bodyPr wrap="square" anchor="t" lIns="0" rIns="0" tIns="0" bIns="0">
            <a:spAutoFit/>
          </a:bodyPr>
          <a:lstStyle/>
          <a:p>
            <a:pPr algn="l">
              <a:lnSpc>
                <a:spcPct val="115000"/>
              </a:lnSpc>
            </a:pPr>
            <a:r>
              <a:rPr sz="1400" b="1" i="0">
                <a:solidFill>
                  <a:srgbClr val="F5A623"/>
                </a:solidFill>
                <a:latin typeface="Yu Gothic"/>
              </a:rPr>
              <a:t>OFFICIAL GUIDELINE</a:t>
            </a:r>
          </a:p>
        </p:txBody>
      </p:sp>
      <p:sp>
        <p:nvSpPr>
          <p:cNvPr id="3" name="TextBox 2"/>
          <p:cNvSpPr txBox="1"/>
          <p:nvPr/>
        </p:nvSpPr>
        <p:spPr>
          <a:xfrm>
            <a:off x="640080" y="822960"/>
            <a:ext cx="10515600" cy="822960"/>
          </a:xfrm>
          <a:prstGeom prst="rect">
            <a:avLst/>
          </a:prstGeom>
          <a:noFill/>
        </p:spPr>
        <p:txBody>
          <a:bodyPr wrap="square" anchor="t" lIns="0" rIns="0" tIns="0" bIns="0">
            <a:spAutoFit/>
          </a:bodyPr>
          <a:lstStyle/>
          <a:p>
            <a:pPr algn="l">
              <a:lnSpc>
                <a:spcPct val="115000"/>
              </a:lnSpc>
            </a:pPr>
            <a:r>
              <a:rPr sz="3000" b="1" i="0">
                <a:solidFill>
                  <a:srgbClr val="17375E"/>
                </a:solidFill>
                <a:latin typeface="Yu Gothic"/>
              </a:rPr>
              <a:t>環境省が示す「同行避難」の考え方</a:t>
            </a:r>
          </a:p>
        </p:txBody>
      </p:sp>
      <p:sp>
        <p:nvSpPr>
          <p:cNvPr id="4" name="Rectangle 3"/>
          <p:cNvSpPr/>
          <p:nvPr/>
        </p:nvSpPr>
        <p:spPr>
          <a:xfrm>
            <a:off x="640080" y="1600200"/>
            <a:ext cx="822960" cy="3810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2103120"/>
            <a:ext cx="5257800" cy="4114800"/>
          </a:xfrm>
          <a:prstGeom prst="roundRect">
            <a:avLst>
              <a:gd name="adj" fmla="val 5000"/>
            </a:avLst>
          </a:prstGeom>
          <a:solidFill>
            <a:srgbClr val="FFFFFF"/>
          </a:solidFill>
          <a:ln w="12700">
            <a:solidFill>
              <a:srgbClr val="EAE6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40080" y="2103120"/>
            <a:ext cx="5257800" cy="192024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evacuation_walk.jpg"/>
          <p:cNvPicPr>
            <a:picLocks noChangeAspect="1"/>
          </p:cNvPicPr>
          <p:nvPr/>
        </p:nvPicPr>
        <p:blipFill>
          <a:blip r:embed="rId2"/>
          <a:srcRect t="16522" b="16522"/>
          <a:stretch>
            <a:fillRect/>
          </a:stretch>
        </p:blipFill>
        <p:spPr>
          <a:xfrm>
            <a:off x="640080" y="2103120"/>
            <a:ext cx="5257800" cy="1920240"/>
          </a:xfrm>
          <a:prstGeom prst="rect">
            <a:avLst/>
          </a:prstGeom>
        </p:spPr>
      </p:pic>
      <p:sp>
        <p:nvSpPr>
          <p:cNvPr id="8" name="Rounded Rectangle 7"/>
          <p:cNvSpPr/>
          <p:nvPr/>
        </p:nvSpPr>
        <p:spPr>
          <a:xfrm>
            <a:off x="640080" y="2103120"/>
            <a:ext cx="5257800" cy="1920240"/>
          </a:xfrm>
          <a:prstGeom prst="roundRect">
            <a:avLst>
              <a:gd name="adj" fmla="val 6000"/>
            </a:avLst>
          </a:prstGeom>
          <a:noFill/>
          <a:ln w="317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4160520"/>
            <a:ext cx="4709160" cy="457200"/>
          </a:xfrm>
          <a:prstGeom prst="rect">
            <a:avLst/>
          </a:prstGeom>
          <a:noFill/>
        </p:spPr>
        <p:txBody>
          <a:bodyPr wrap="square" anchor="t" lIns="0" rIns="0" tIns="0" bIns="0">
            <a:spAutoFit/>
          </a:bodyPr>
          <a:lstStyle/>
          <a:p>
            <a:pPr algn="l">
              <a:lnSpc>
                <a:spcPct val="115000"/>
              </a:lnSpc>
            </a:pPr>
            <a:r>
              <a:rPr sz="2000" b="1" i="0">
                <a:solidFill>
                  <a:srgbClr val="17375E"/>
                </a:solidFill>
                <a:latin typeface="Yu Gothic"/>
              </a:rPr>
              <a:t>同行避難</a:t>
            </a:r>
          </a:p>
        </p:txBody>
      </p:sp>
      <p:sp>
        <p:nvSpPr>
          <p:cNvPr id="10" name="TextBox 9"/>
          <p:cNvSpPr txBox="1"/>
          <p:nvPr/>
        </p:nvSpPr>
        <p:spPr>
          <a:xfrm>
            <a:off x="914400" y="4617720"/>
            <a:ext cx="4709160" cy="1188720"/>
          </a:xfrm>
          <a:prstGeom prst="rect">
            <a:avLst/>
          </a:prstGeom>
          <a:noFill/>
        </p:spPr>
        <p:txBody>
          <a:bodyPr wrap="square" anchor="t" lIns="0" rIns="0" tIns="0" bIns="0">
            <a:spAutoFit/>
          </a:bodyPr>
          <a:lstStyle/>
          <a:p>
            <a:pPr algn="l">
              <a:lnSpc>
                <a:spcPct val="130000"/>
              </a:lnSpc>
            </a:pPr>
            <a:r>
              <a:rPr sz="1250" b="0" i="0">
                <a:solidFill>
                  <a:srgbClr val="1F2937"/>
                </a:solidFill>
                <a:latin typeface="Yu Gothic"/>
              </a:rPr>
              <a:t>災害の発生時に、飼い主がペットを同行し、指定緊急避難場所等まで避難する『行動』そのものを指す。避難所等でペットと同室で飼養管理することを意味するものではない。</a:t>
            </a:r>
          </a:p>
        </p:txBody>
      </p:sp>
      <p:sp>
        <p:nvSpPr>
          <p:cNvPr id="11" name="TextBox 10"/>
          <p:cNvSpPr txBox="1"/>
          <p:nvPr/>
        </p:nvSpPr>
        <p:spPr>
          <a:xfrm>
            <a:off x="914400" y="5852159"/>
            <a:ext cx="4709160" cy="274320"/>
          </a:xfrm>
          <a:prstGeom prst="rect">
            <a:avLst/>
          </a:prstGeom>
          <a:noFill/>
        </p:spPr>
        <p:txBody>
          <a:bodyPr wrap="square" anchor="t" lIns="0" rIns="0" tIns="0" bIns="0">
            <a:spAutoFit/>
          </a:bodyPr>
          <a:lstStyle/>
          <a:p>
            <a:pPr algn="l">
              <a:lnSpc>
                <a:spcPct val="115000"/>
              </a:lnSpc>
            </a:pPr>
            <a:r>
              <a:rPr sz="900" b="0" i="0">
                <a:solidFill>
                  <a:srgbClr val="767C85"/>
                </a:solidFill>
                <a:latin typeface="Yu Gothic"/>
              </a:rPr>
              <a:t>出典：環境省『人とペットの災害対策ガイドライン』</a:t>
            </a:r>
          </a:p>
        </p:txBody>
      </p:sp>
      <p:sp>
        <p:nvSpPr>
          <p:cNvPr id="12" name="Rounded Rectangle 11"/>
          <p:cNvSpPr/>
          <p:nvPr/>
        </p:nvSpPr>
        <p:spPr>
          <a:xfrm>
            <a:off x="6263640" y="2103120"/>
            <a:ext cx="5257800" cy="4114800"/>
          </a:xfrm>
          <a:prstGeom prst="roundRect">
            <a:avLst>
              <a:gd name="adj" fmla="val 5000"/>
            </a:avLst>
          </a:prstGeom>
          <a:solidFill>
            <a:srgbClr val="FFFFFF"/>
          </a:solidFill>
          <a:ln w="12700">
            <a:solidFill>
              <a:srgbClr val="EAE6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2103120"/>
            <a:ext cx="5257800" cy="192024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shelter_pet_cage.jpg"/>
          <p:cNvPicPr>
            <a:picLocks noChangeAspect="1"/>
          </p:cNvPicPr>
          <p:nvPr/>
        </p:nvPicPr>
        <p:blipFill>
          <a:blip r:embed="rId3"/>
          <a:srcRect t="16522" b="16522"/>
          <a:stretch>
            <a:fillRect/>
          </a:stretch>
        </p:blipFill>
        <p:spPr>
          <a:xfrm>
            <a:off x="6263640" y="2103120"/>
            <a:ext cx="5257800" cy="1920240"/>
          </a:xfrm>
          <a:prstGeom prst="rect">
            <a:avLst/>
          </a:prstGeom>
        </p:spPr>
      </p:pic>
      <p:sp>
        <p:nvSpPr>
          <p:cNvPr id="15" name="Rounded Rectangle 14"/>
          <p:cNvSpPr/>
          <p:nvPr/>
        </p:nvSpPr>
        <p:spPr>
          <a:xfrm>
            <a:off x="6263640" y="2103120"/>
            <a:ext cx="5257800" cy="1920240"/>
          </a:xfrm>
          <a:prstGeom prst="roundRect">
            <a:avLst>
              <a:gd name="adj" fmla="val 6000"/>
            </a:avLst>
          </a:prstGeom>
          <a:noFill/>
          <a:ln w="317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37960" y="4160520"/>
            <a:ext cx="4709160" cy="457200"/>
          </a:xfrm>
          <a:prstGeom prst="rect">
            <a:avLst/>
          </a:prstGeom>
          <a:noFill/>
        </p:spPr>
        <p:txBody>
          <a:bodyPr wrap="square" anchor="t" lIns="0" rIns="0" tIns="0" bIns="0">
            <a:spAutoFit/>
          </a:bodyPr>
          <a:lstStyle/>
          <a:p>
            <a:pPr algn="l">
              <a:lnSpc>
                <a:spcPct val="115000"/>
              </a:lnSpc>
            </a:pPr>
            <a:r>
              <a:rPr sz="2000" b="1" i="0">
                <a:solidFill>
                  <a:srgbClr val="D98812"/>
                </a:solidFill>
                <a:latin typeface="Yu Gothic"/>
              </a:rPr>
              <a:t>同伴避難</a:t>
            </a:r>
          </a:p>
        </p:txBody>
      </p:sp>
      <p:sp>
        <p:nvSpPr>
          <p:cNvPr id="17" name="TextBox 16"/>
          <p:cNvSpPr txBox="1"/>
          <p:nvPr/>
        </p:nvSpPr>
        <p:spPr>
          <a:xfrm>
            <a:off x="6537960" y="4617720"/>
            <a:ext cx="4709160" cy="1188720"/>
          </a:xfrm>
          <a:prstGeom prst="rect">
            <a:avLst/>
          </a:prstGeom>
          <a:noFill/>
        </p:spPr>
        <p:txBody>
          <a:bodyPr wrap="square" anchor="t" lIns="0" rIns="0" tIns="0" bIns="0">
            <a:spAutoFit/>
          </a:bodyPr>
          <a:lstStyle/>
          <a:p>
            <a:pPr algn="l">
              <a:lnSpc>
                <a:spcPct val="130000"/>
              </a:lnSpc>
            </a:pPr>
            <a:r>
              <a:rPr sz="1250" b="0" i="0">
                <a:solidFill>
                  <a:srgbClr val="1F2937"/>
                </a:solidFill>
                <a:latin typeface="Yu Gothic"/>
              </a:rPr>
              <a:t>内閣府『避難所運営ガイドライン』で用いられる用語。避難所等において、被災者がペットを飼養管理する『状態』を指す。</a:t>
            </a:r>
          </a:p>
        </p:txBody>
      </p:sp>
      <p:sp>
        <p:nvSpPr>
          <p:cNvPr id="18" name="TextBox 17"/>
          <p:cNvSpPr txBox="1"/>
          <p:nvPr/>
        </p:nvSpPr>
        <p:spPr>
          <a:xfrm>
            <a:off x="6537960" y="5852159"/>
            <a:ext cx="4709160" cy="274320"/>
          </a:xfrm>
          <a:prstGeom prst="rect">
            <a:avLst/>
          </a:prstGeom>
          <a:noFill/>
        </p:spPr>
        <p:txBody>
          <a:bodyPr wrap="square" anchor="t" lIns="0" rIns="0" tIns="0" bIns="0">
            <a:spAutoFit/>
          </a:bodyPr>
          <a:lstStyle/>
          <a:p>
            <a:pPr algn="l">
              <a:lnSpc>
                <a:spcPct val="115000"/>
              </a:lnSpc>
            </a:pPr>
            <a:r>
              <a:rPr sz="900" b="0" i="0">
                <a:solidFill>
                  <a:srgbClr val="767C85"/>
                </a:solidFill>
                <a:latin typeface="Yu Gothic"/>
              </a:rPr>
              <a:t>出典：内閣府『避難所運営ガイドライン』</a:t>
            </a:r>
          </a:p>
        </p:txBody>
      </p:sp>
      <p:sp>
        <p:nvSpPr>
          <p:cNvPr id="19" name="TextBox 18"/>
          <p:cNvSpPr txBox="1"/>
          <p:nvPr/>
        </p:nvSpPr>
        <p:spPr>
          <a:xfrm>
            <a:off x="457200" y="6492240"/>
            <a:ext cx="6400800" cy="274320"/>
          </a:xfrm>
          <a:prstGeom prst="rect">
            <a:avLst/>
          </a:prstGeom>
          <a:noFill/>
        </p:spPr>
        <p:txBody>
          <a:bodyPr wrap="square" anchor="t" lIns="0" rIns="0" tIns="0" bIns="0">
            <a:spAutoFit/>
          </a:bodyPr>
          <a:lstStyle/>
          <a:p>
            <a:pPr algn="l">
              <a:lnSpc>
                <a:spcPct val="115000"/>
              </a:lnSpc>
            </a:pPr>
            <a:r>
              <a:rPr sz="900" b="0" i="0">
                <a:solidFill>
                  <a:srgbClr val="767C85"/>
                </a:solidFill>
                <a:latin typeface="Yu Gothic"/>
              </a:rPr>
              <a:t>一般社団法人 ペット防災アドバイザー協会　PDPA-101</a:t>
            </a:r>
          </a:p>
        </p:txBody>
      </p:sp>
      <p:sp>
        <p:nvSpPr>
          <p:cNvPr id="20" name="TextBox 19"/>
          <p:cNvSpPr txBox="1"/>
          <p:nvPr/>
        </p:nvSpPr>
        <p:spPr>
          <a:xfrm>
            <a:off x="11521440" y="6492240"/>
            <a:ext cx="457200" cy="274320"/>
          </a:xfrm>
          <a:prstGeom prst="rect">
            <a:avLst/>
          </a:prstGeom>
          <a:noFill/>
        </p:spPr>
        <p:txBody>
          <a:bodyPr wrap="square" anchor="t" lIns="0" rIns="0" tIns="0" bIns="0">
            <a:spAutoFit/>
          </a:bodyPr>
          <a:lstStyle/>
          <a:p>
            <a:pPr algn="r">
              <a:lnSpc>
                <a:spcPct val="115000"/>
              </a:lnSpc>
            </a:pPr>
            <a:r>
              <a:rPr sz="900" b="0" i="0">
                <a:solidFill>
                  <a:srgbClr val="767C85"/>
                </a:solidFill>
                <a:latin typeface="Yu Gothic"/>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7375E"/>
        </a:solidFill>
        <a:effectLst/>
      </p:bgPr>
    </p:bg>
    <p:spTree>
      <p:nvGrpSpPr>
        <p:cNvPr id="1" name=""/>
        <p:cNvGrpSpPr/>
        <p:nvPr/>
      </p:nvGrpSpPr>
      <p:grpSpPr/>
      <p:sp>
        <p:nvSpPr>
          <p:cNvPr id="2" name="TextBox 1"/>
          <p:cNvSpPr txBox="1"/>
          <p:nvPr/>
        </p:nvSpPr>
        <p:spPr>
          <a:xfrm>
            <a:off x="640080" y="502920"/>
            <a:ext cx="4572000" cy="365760"/>
          </a:xfrm>
          <a:prstGeom prst="rect">
            <a:avLst/>
          </a:prstGeom>
          <a:noFill/>
        </p:spPr>
        <p:txBody>
          <a:bodyPr wrap="square" anchor="t" lIns="0" rIns="0" tIns="0" bIns="0">
            <a:spAutoFit/>
          </a:bodyPr>
          <a:lstStyle/>
          <a:p>
            <a:pPr algn="l">
              <a:lnSpc>
                <a:spcPct val="115000"/>
              </a:lnSpc>
            </a:pPr>
            <a:r>
              <a:rPr sz="1400" b="1" i="0">
                <a:solidFill>
                  <a:srgbClr val="F5A623"/>
                </a:solidFill>
                <a:latin typeface="Yu Gothic"/>
              </a:rPr>
              <a:t>ROLE</a:t>
            </a:r>
          </a:p>
        </p:txBody>
      </p:sp>
      <p:sp>
        <p:nvSpPr>
          <p:cNvPr id="3" name="TextBox 2"/>
          <p:cNvSpPr txBox="1"/>
          <p:nvPr/>
        </p:nvSpPr>
        <p:spPr>
          <a:xfrm>
            <a:off x="640080" y="822960"/>
            <a:ext cx="10515600" cy="822960"/>
          </a:xfrm>
          <a:prstGeom prst="rect">
            <a:avLst/>
          </a:prstGeom>
          <a:noFill/>
        </p:spPr>
        <p:txBody>
          <a:bodyPr wrap="square" anchor="t" lIns="0" rIns="0" tIns="0" bIns="0">
            <a:spAutoFit/>
          </a:bodyPr>
          <a:lstStyle/>
          <a:p>
            <a:pPr algn="l">
              <a:lnSpc>
                <a:spcPct val="115000"/>
              </a:lnSpc>
            </a:pPr>
            <a:r>
              <a:rPr sz="3000" b="1" i="0">
                <a:solidFill>
                  <a:srgbClr val="FFFFFF"/>
                </a:solidFill>
                <a:latin typeface="Yu Gothic"/>
              </a:rPr>
              <a:t>アドバイザーの役割</a:t>
            </a:r>
          </a:p>
        </p:txBody>
      </p:sp>
      <p:sp>
        <p:nvSpPr>
          <p:cNvPr id="4" name="Rectangle 3"/>
          <p:cNvSpPr/>
          <p:nvPr/>
        </p:nvSpPr>
        <p:spPr>
          <a:xfrm>
            <a:off x="640080" y="1600200"/>
            <a:ext cx="822960" cy="3810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2194560"/>
            <a:ext cx="3520440" cy="3657600"/>
          </a:xfrm>
          <a:prstGeom prst="roundRect">
            <a:avLst>
              <a:gd name="adj" fmla="val 8000"/>
            </a:avLst>
          </a:prstGeom>
          <a:solidFill>
            <a:srgbClr val="2245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60120" y="2514600"/>
            <a:ext cx="457200" cy="45720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FFFFFF"/>
                </a:solidFill>
                <a:latin typeface="Yu Gothic"/>
              </a:rPr>
              <a:t>1</a:t>
            </a:r>
          </a:p>
        </p:txBody>
      </p:sp>
      <p:sp>
        <p:nvSpPr>
          <p:cNvPr id="7" name="TextBox 6"/>
          <p:cNvSpPr txBox="1"/>
          <p:nvPr/>
        </p:nvSpPr>
        <p:spPr>
          <a:xfrm>
            <a:off x="960120" y="3200400"/>
            <a:ext cx="2880360" cy="1188720"/>
          </a:xfrm>
          <a:prstGeom prst="rect">
            <a:avLst/>
          </a:prstGeom>
          <a:noFill/>
        </p:spPr>
        <p:txBody>
          <a:bodyPr wrap="square" anchor="t" lIns="0" rIns="0" tIns="0" bIns="0">
            <a:spAutoFit/>
          </a:bodyPr>
          <a:lstStyle/>
          <a:p>
            <a:pPr algn="l">
              <a:lnSpc>
                <a:spcPct val="125000"/>
              </a:lnSpc>
            </a:pPr>
            <a:r>
              <a:rPr sz="1800" b="1" i="0">
                <a:solidFill>
                  <a:srgbClr val="FFFFFF"/>
                </a:solidFill>
                <a:latin typeface="Yu Gothic"/>
              </a:rPr>
              <a:t>正しい知識を伝え、生命を守る</a:t>
            </a:r>
          </a:p>
        </p:txBody>
      </p:sp>
      <p:sp>
        <p:nvSpPr>
          <p:cNvPr id="8" name="TextBox 7"/>
          <p:cNvSpPr txBox="1"/>
          <p:nvPr/>
        </p:nvSpPr>
        <p:spPr>
          <a:xfrm>
            <a:off x="960120" y="4480560"/>
            <a:ext cx="2880360" cy="1188720"/>
          </a:xfrm>
          <a:prstGeom prst="rect">
            <a:avLst/>
          </a:prstGeom>
          <a:noFill/>
        </p:spPr>
        <p:txBody>
          <a:bodyPr wrap="square" anchor="t" lIns="0" rIns="0" tIns="0" bIns="0">
            <a:spAutoFit/>
          </a:bodyPr>
          <a:lstStyle/>
          <a:p>
            <a:pPr algn="l">
              <a:lnSpc>
                <a:spcPct val="135000"/>
              </a:lnSpc>
            </a:pPr>
            <a:r>
              <a:rPr sz="1300" b="0" i="0">
                <a:solidFill>
                  <a:srgbClr val="C7CDD6"/>
                </a:solidFill>
                <a:latin typeface="Yu Gothic"/>
              </a:rPr>
              <a:t>公的ガイドラインに基づく正確な情報を、わかりやすく伝える</a:t>
            </a:r>
          </a:p>
        </p:txBody>
      </p:sp>
      <p:sp>
        <p:nvSpPr>
          <p:cNvPr id="9" name="Rounded Rectangle 8"/>
          <p:cNvSpPr/>
          <p:nvPr/>
        </p:nvSpPr>
        <p:spPr>
          <a:xfrm>
            <a:off x="4389120" y="2194560"/>
            <a:ext cx="3520440" cy="3657600"/>
          </a:xfrm>
          <a:prstGeom prst="roundRect">
            <a:avLst>
              <a:gd name="adj" fmla="val 8000"/>
            </a:avLst>
          </a:prstGeom>
          <a:solidFill>
            <a:srgbClr val="2245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4709160" y="2514600"/>
            <a:ext cx="457200" cy="45720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FFFFFF"/>
                </a:solidFill>
                <a:latin typeface="Yu Gothic"/>
              </a:rPr>
              <a:t>2</a:t>
            </a:r>
          </a:p>
        </p:txBody>
      </p:sp>
      <p:sp>
        <p:nvSpPr>
          <p:cNvPr id="11" name="TextBox 10"/>
          <p:cNvSpPr txBox="1"/>
          <p:nvPr/>
        </p:nvSpPr>
        <p:spPr>
          <a:xfrm>
            <a:off x="4709160" y="3200400"/>
            <a:ext cx="2880360" cy="1188720"/>
          </a:xfrm>
          <a:prstGeom prst="rect">
            <a:avLst/>
          </a:prstGeom>
          <a:noFill/>
        </p:spPr>
        <p:txBody>
          <a:bodyPr wrap="square" anchor="t" lIns="0" rIns="0" tIns="0" bIns="0">
            <a:spAutoFit/>
          </a:bodyPr>
          <a:lstStyle/>
          <a:p>
            <a:pPr algn="l">
              <a:lnSpc>
                <a:spcPct val="125000"/>
              </a:lnSpc>
            </a:pPr>
            <a:r>
              <a:rPr sz="1800" b="1" i="0">
                <a:solidFill>
                  <a:srgbClr val="FFFFFF"/>
                </a:solidFill>
                <a:latin typeface="Yu Gothic"/>
              </a:rPr>
              <a:t>地域を支える防災リーダーになる</a:t>
            </a:r>
          </a:p>
        </p:txBody>
      </p:sp>
      <p:sp>
        <p:nvSpPr>
          <p:cNvPr id="12" name="TextBox 11"/>
          <p:cNvSpPr txBox="1"/>
          <p:nvPr/>
        </p:nvSpPr>
        <p:spPr>
          <a:xfrm>
            <a:off x="4709160" y="4480560"/>
            <a:ext cx="2880360" cy="1188720"/>
          </a:xfrm>
          <a:prstGeom prst="rect">
            <a:avLst/>
          </a:prstGeom>
          <a:noFill/>
        </p:spPr>
        <p:txBody>
          <a:bodyPr wrap="square" anchor="t" lIns="0" rIns="0" tIns="0" bIns="0">
            <a:spAutoFit/>
          </a:bodyPr>
          <a:lstStyle/>
          <a:p>
            <a:pPr algn="l">
              <a:lnSpc>
                <a:spcPct val="135000"/>
              </a:lnSpc>
            </a:pPr>
            <a:r>
              <a:rPr sz="1300" b="0" i="0">
                <a:solidFill>
                  <a:srgbClr val="C7CDD6"/>
                </a:solidFill>
                <a:latin typeface="Yu Gothic"/>
              </a:rPr>
              <a:t>自治体・地域活動と連携し、防災文化を広める</a:t>
            </a:r>
          </a:p>
        </p:txBody>
      </p:sp>
      <p:sp>
        <p:nvSpPr>
          <p:cNvPr id="13" name="Rounded Rectangle 12"/>
          <p:cNvSpPr/>
          <p:nvPr/>
        </p:nvSpPr>
        <p:spPr>
          <a:xfrm>
            <a:off x="8138160" y="2194560"/>
            <a:ext cx="3520440" cy="3657600"/>
          </a:xfrm>
          <a:prstGeom prst="roundRect">
            <a:avLst>
              <a:gd name="adj" fmla="val 8000"/>
            </a:avLst>
          </a:prstGeom>
          <a:solidFill>
            <a:srgbClr val="2245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458200" y="2514600"/>
            <a:ext cx="457200" cy="45720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FFFFFF"/>
                </a:solidFill>
                <a:latin typeface="Yu Gothic"/>
              </a:rPr>
              <a:t>3</a:t>
            </a:r>
          </a:p>
        </p:txBody>
      </p:sp>
      <p:sp>
        <p:nvSpPr>
          <p:cNvPr id="15" name="TextBox 14"/>
          <p:cNvSpPr txBox="1"/>
          <p:nvPr/>
        </p:nvSpPr>
        <p:spPr>
          <a:xfrm>
            <a:off x="8458200" y="3200400"/>
            <a:ext cx="2880360" cy="1188720"/>
          </a:xfrm>
          <a:prstGeom prst="rect">
            <a:avLst/>
          </a:prstGeom>
          <a:noFill/>
        </p:spPr>
        <p:txBody>
          <a:bodyPr wrap="square" anchor="t" lIns="0" rIns="0" tIns="0" bIns="0">
            <a:spAutoFit/>
          </a:bodyPr>
          <a:lstStyle/>
          <a:p>
            <a:pPr algn="l">
              <a:lnSpc>
                <a:spcPct val="125000"/>
              </a:lnSpc>
            </a:pPr>
            <a:r>
              <a:rPr sz="1800" b="1" i="0">
                <a:solidFill>
                  <a:srgbClr val="FFFFFF"/>
                </a:solidFill>
                <a:latin typeface="Yu Gothic"/>
              </a:rPr>
              <a:t>飼い主に寄り添い、心配事を減らす</a:t>
            </a:r>
          </a:p>
        </p:txBody>
      </p:sp>
      <p:sp>
        <p:nvSpPr>
          <p:cNvPr id="16" name="TextBox 15"/>
          <p:cNvSpPr txBox="1"/>
          <p:nvPr/>
        </p:nvSpPr>
        <p:spPr>
          <a:xfrm>
            <a:off x="8458200" y="4480560"/>
            <a:ext cx="2880360" cy="1188720"/>
          </a:xfrm>
          <a:prstGeom prst="rect">
            <a:avLst/>
          </a:prstGeom>
          <a:noFill/>
        </p:spPr>
        <p:txBody>
          <a:bodyPr wrap="square" anchor="t" lIns="0" rIns="0" tIns="0" bIns="0">
            <a:spAutoFit/>
          </a:bodyPr>
          <a:lstStyle/>
          <a:p>
            <a:pPr algn="l">
              <a:lnSpc>
                <a:spcPct val="135000"/>
              </a:lnSpc>
            </a:pPr>
            <a:r>
              <a:rPr sz="1300" b="0" i="0">
                <a:solidFill>
                  <a:srgbClr val="C7CDD6"/>
                </a:solidFill>
                <a:latin typeface="Yu Gothic"/>
              </a:rPr>
              <a:t>断定的に指導するのではなく、一緒に備える伴走者として関わる</a:t>
            </a:r>
          </a:p>
        </p:txBody>
      </p:sp>
      <p:sp>
        <p:nvSpPr>
          <p:cNvPr id="17" name="TextBox 16"/>
          <p:cNvSpPr txBox="1"/>
          <p:nvPr/>
        </p:nvSpPr>
        <p:spPr>
          <a:xfrm>
            <a:off x="457200" y="6492240"/>
            <a:ext cx="6400800" cy="274320"/>
          </a:xfrm>
          <a:prstGeom prst="rect">
            <a:avLst/>
          </a:prstGeom>
          <a:noFill/>
        </p:spPr>
        <p:txBody>
          <a:bodyPr wrap="square" anchor="t" lIns="0" rIns="0" tIns="0" bIns="0">
            <a:spAutoFit/>
          </a:bodyPr>
          <a:lstStyle/>
          <a:p>
            <a:pPr algn="l">
              <a:lnSpc>
                <a:spcPct val="115000"/>
              </a:lnSpc>
            </a:pPr>
            <a:r>
              <a:rPr sz="900" b="0" i="0">
                <a:solidFill>
                  <a:srgbClr val="C7CDD6"/>
                </a:solidFill>
                <a:latin typeface="Yu Gothic"/>
              </a:rPr>
              <a:t>一般社団法人 ペット防災アドバイザー協会　PDPA-101</a:t>
            </a:r>
          </a:p>
        </p:txBody>
      </p:sp>
      <p:sp>
        <p:nvSpPr>
          <p:cNvPr id="18" name="TextBox 17"/>
          <p:cNvSpPr txBox="1"/>
          <p:nvPr/>
        </p:nvSpPr>
        <p:spPr>
          <a:xfrm>
            <a:off x="11521440" y="6492240"/>
            <a:ext cx="457200" cy="274320"/>
          </a:xfrm>
          <a:prstGeom prst="rect">
            <a:avLst/>
          </a:prstGeom>
          <a:noFill/>
        </p:spPr>
        <p:txBody>
          <a:bodyPr wrap="square" anchor="t" lIns="0" rIns="0" tIns="0" bIns="0">
            <a:spAutoFit/>
          </a:bodyPr>
          <a:lstStyle/>
          <a:p>
            <a:pPr algn="r">
              <a:lnSpc>
                <a:spcPct val="115000"/>
              </a:lnSpc>
            </a:pPr>
            <a:r>
              <a:rPr sz="900" b="0" i="0">
                <a:solidFill>
                  <a:srgbClr val="C7CDD6"/>
                </a:solidFill>
                <a:latin typeface="Yu Gothic"/>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3F5F7"/>
        </a:solidFill>
        <a:effectLst/>
      </p:bgPr>
    </p:bg>
    <p:spTree>
      <p:nvGrpSpPr>
        <p:cNvPr id="1" name=""/>
        <p:cNvGrpSpPr/>
        <p:nvPr/>
      </p:nvGrpSpPr>
      <p:grpSpPr/>
      <p:sp>
        <p:nvSpPr>
          <p:cNvPr id="2" name="TextBox 1"/>
          <p:cNvSpPr txBox="1"/>
          <p:nvPr/>
        </p:nvSpPr>
        <p:spPr>
          <a:xfrm>
            <a:off x="640080" y="502920"/>
            <a:ext cx="4572000" cy="365760"/>
          </a:xfrm>
          <a:prstGeom prst="rect">
            <a:avLst/>
          </a:prstGeom>
          <a:noFill/>
        </p:spPr>
        <p:txBody>
          <a:bodyPr wrap="square" anchor="t" lIns="0" rIns="0" tIns="0" bIns="0">
            <a:spAutoFit/>
          </a:bodyPr>
          <a:lstStyle/>
          <a:p>
            <a:pPr algn="l">
              <a:lnSpc>
                <a:spcPct val="115000"/>
              </a:lnSpc>
            </a:pPr>
            <a:r>
              <a:rPr sz="1400" b="1" i="0">
                <a:solidFill>
                  <a:srgbClr val="F5A623"/>
                </a:solidFill>
                <a:latin typeface="Yu Gothic"/>
              </a:rPr>
              <a:t>WHERE YOU CAN ACT</a:t>
            </a:r>
          </a:p>
        </p:txBody>
      </p:sp>
      <p:sp>
        <p:nvSpPr>
          <p:cNvPr id="3" name="TextBox 2"/>
          <p:cNvSpPr txBox="1"/>
          <p:nvPr/>
        </p:nvSpPr>
        <p:spPr>
          <a:xfrm>
            <a:off x="640080" y="822960"/>
            <a:ext cx="10515600" cy="822960"/>
          </a:xfrm>
          <a:prstGeom prst="rect">
            <a:avLst/>
          </a:prstGeom>
          <a:noFill/>
        </p:spPr>
        <p:txBody>
          <a:bodyPr wrap="square" anchor="t" lIns="0" rIns="0" tIns="0" bIns="0">
            <a:spAutoFit/>
          </a:bodyPr>
          <a:lstStyle/>
          <a:p>
            <a:pPr algn="l">
              <a:lnSpc>
                <a:spcPct val="115000"/>
              </a:lnSpc>
            </a:pPr>
            <a:r>
              <a:rPr sz="3000" b="1" i="0">
                <a:solidFill>
                  <a:srgbClr val="17375E"/>
                </a:solidFill>
                <a:latin typeface="Yu Gothic"/>
              </a:rPr>
              <a:t>活動場所</a:t>
            </a:r>
          </a:p>
        </p:txBody>
      </p:sp>
      <p:sp>
        <p:nvSpPr>
          <p:cNvPr id="4" name="Rectangle 3"/>
          <p:cNvSpPr/>
          <p:nvPr/>
        </p:nvSpPr>
        <p:spPr>
          <a:xfrm>
            <a:off x="640080" y="1600200"/>
            <a:ext cx="822960" cy="3810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92327" y="1965960"/>
            <a:ext cx="2514600" cy="169164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cation_townhall.jpg"/>
          <p:cNvPicPr>
            <a:picLocks noChangeAspect="1"/>
          </p:cNvPicPr>
          <p:nvPr/>
        </p:nvPicPr>
        <p:blipFill>
          <a:blip r:embed="rId2"/>
          <a:srcRect l="9459" r="9459"/>
          <a:stretch>
            <a:fillRect/>
          </a:stretch>
        </p:blipFill>
        <p:spPr>
          <a:xfrm>
            <a:off x="792327" y="1965960"/>
            <a:ext cx="2514600" cy="1691640"/>
          </a:xfrm>
          <a:prstGeom prst="rect">
            <a:avLst/>
          </a:prstGeom>
        </p:spPr>
      </p:pic>
      <p:sp>
        <p:nvSpPr>
          <p:cNvPr id="7" name="Rounded Rectangle 6"/>
          <p:cNvSpPr/>
          <p:nvPr/>
        </p:nvSpPr>
        <p:spPr>
          <a:xfrm>
            <a:off x="792327" y="1965960"/>
            <a:ext cx="2514600" cy="1691640"/>
          </a:xfrm>
          <a:prstGeom prst="roundRect">
            <a:avLst>
              <a:gd name="adj" fmla="val 6000"/>
            </a:avLst>
          </a:prstGeom>
          <a:noFill/>
          <a:ln w="317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92327" y="3200400"/>
            <a:ext cx="2514600" cy="457200"/>
          </a:xfrm>
          <a:prstGeom prst="rect">
            <a:avLst/>
          </a:prstGeom>
          <a:solidFill>
            <a:srgbClr val="1737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2327" y="3218688"/>
            <a:ext cx="2514600" cy="411480"/>
          </a:xfrm>
          <a:prstGeom prst="rect">
            <a:avLst/>
          </a:prstGeom>
          <a:noFill/>
        </p:spPr>
        <p:txBody>
          <a:bodyPr wrap="square" anchor="ctr" lIns="0" rIns="0" tIns="0" bIns="0">
            <a:spAutoFit/>
          </a:bodyPr>
          <a:lstStyle/>
          <a:p>
            <a:pPr algn="ctr">
              <a:lnSpc>
                <a:spcPct val="115000"/>
              </a:lnSpc>
            </a:pPr>
            <a:r>
              <a:rPr sz="1300" b="1" i="0">
                <a:solidFill>
                  <a:srgbClr val="FFFFFF"/>
                </a:solidFill>
                <a:latin typeface="Yu Gothic"/>
              </a:rPr>
              <a:t>自治体</a:t>
            </a:r>
          </a:p>
        </p:txBody>
      </p:sp>
      <p:sp>
        <p:nvSpPr>
          <p:cNvPr id="10" name="Rounded Rectangle 9"/>
          <p:cNvSpPr/>
          <p:nvPr/>
        </p:nvSpPr>
        <p:spPr>
          <a:xfrm>
            <a:off x="3489807" y="1965960"/>
            <a:ext cx="2514600" cy="169164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location_school.jpg"/>
          <p:cNvPicPr>
            <a:picLocks noChangeAspect="1"/>
          </p:cNvPicPr>
          <p:nvPr/>
        </p:nvPicPr>
        <p:blipFill>
          <a:blip r:embed="rId3"/>
          <a:srcRect l="9459" r="9459"/>
          <a:stretch>
            <a:fillRect/>
          </a:stretch>
        </p:blipFill>
        <p:spPr>
          <a:xfrm>
            <a:off x="3489807" y="1965960"/>
            <a:ext cx="2514600" cy="1691640"/>
          </a:xfrm>
          <a:prstGeom prst="rect">
            <a:avLst/>
          </a:prstGeom>
        </p:spPr>
      </p:pic>
      <p:sp>
        <p:nvSpPr>
          <p:cNvPr id="12" name="Rounded Rectangle 11"/>
          <p:cNvSpPr/>
          <p:nvPr/>
        </p:nvSpPr>
        <p:spPr>
          <a:xfrm>
            <a:off x="3489807" y="1965960"/>
            <a:ext cx="2514600" cy="1691640"/>
          </a:xfrm>
          <a:prstGeom prst="roundRect">
            <a:avLst>
              <a:gd name="adj" fmla="val 6000"/>
            </a:avLst>
          </a:prstGeom>
          <a:noFill/>
          <a:ln w="317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489807" y="3200400"/>
            <a:ext cx="2514600" cy="457200"/>
          </a:xfrm>
          <a:prstGeom prst="rect">
            <a:avLst/>
          </a:prstGeom>
          <a:solidFill>
            <a:srgbClr val="1737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489807" y="3218688"/>
            <a:ext cx="2514600" cy="411480"/>
          </a:xfrm>
          <a:prstGeom prst="rect">
            <a:avLst/>
          </a:prstGeom>
          <a:noFill/>
        </p:spPr>
        <p:txBody>
          <a:bodyPr wrap="square" anchor="ctr" lIns="0" rIns="0" tIns="0" bIns="0">
            <a:spAutoFit/>
          </a:bodyPr>
          <a:lstStyle/>
          <a:p>
            <a:pPr algn="ctr">
              <a:lnSpc>
                <a:spcPct val="115000"/>
              </a:lnSpc>
            </a:pPr>
            <a:r>
              <a:rPr sz="1300" b="1" i="0">
                <a:solidFill>
                  <a:srgbClr val="FFFFFF"/>
                </a:solidFill>
                <a:latin typeface="Yu Gothic"/>
              </a:rPr>
              <a:t>学校</a:t>
            </a:r>
          </a:p>
        </p:txBody>
      </p:sp>
      <p:sp>
        <p:nvSpPr>
          <p:cNvPr id="15" name="Rounded Rectangle 14"/>
          <p:cNvSpPr/>
          <p:nvPr/>
        </p:nvSpPr>
        <p:spPr>
          <a:xfrm>
            <a:off x="6187287" y="1965960"/>
            <a:ext cx="2514600" cy="169164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location_vetclinic.jpg"/>
          <p:cNvPicPr>
            <a:picLocks noChangeAspect="1"/>
          </p:cNvPicPr>
          <p:nvPr/>
        </p:nvPicPr>
        <p:blipFill>
          <a:blip r:embed="rId4"/>
          <a:srcRect l="9459" r="9459"/>
          <a:stretch>
            <a:fillRect/>
          </a:stretch>
        </p:blipFill>
        <p:spPr>
          <a:xfrm>
            <a:off x="6187287" y="1965960"/>
            <a:ext cx="2514600" cy="1691640"/>
          </a:xfrm>
          <a:prstGeom prst="rect">
            <a:avLst/>
          </a:prstGeom>
        </p:spPr>
      </p:pic>
      <p:sp>
        <p:nvSpPr>
          <p:cNvPr id="17" name="Rounded Rectangle 16"/>
          <p:cNvSpPr/>
          <p:nvPr/>
        </p:nvSpPr>
        <p:spPr>
          <a:xfrm>
            <a:off x="6187287" y="1965960"/>
            <a:ext cx="2514600" cy="1691640"/>
          </a:xfrm>
          <a:prstGeom prst="roundRect">
            <a:avLst>
              <a:gd name="adj" fmla="val 6000"/>
            </a:avLst>
          </a:prstGeom>
          <a:noFill/>
          <a:ln w="317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187287" y="3200400"/>
            <a:ext cx="2514600" cy="457200"/>
          </a:xfrm>
          <a:prstGeom prst="rect">
            <a:avLst/>
          </a:prstGeom>
          <a:solidFill>
            <a:srgbClr val="1737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187287" y="3218688"/>
            <a:ext cx="2514600" cy="411480"/>
          </a:xfrm>
          <a:prstGeom prst="rect">
            <a:avLst/>
          </a:prstGeom>
          <a:noFill/>
        </p:spPr>
        <p:txBody>
          <a:bodyPr wrap="square" anchor="ctr" lIns="0" rIns="0" tIns="0" bIns="0">
            <a:spAutoFit/>
          </a:bodyPr>
          <a:lstStyle/>
          <a:p>
            <a:pPr algn="ctr">
              <a:lnSpc>
                <a:spcPct val="115000"/>
              </a:lnSpc>
            </a:pPr>
            <a:r>
              <a:rPr sz="1300" b="1" i="0">
                <a:solidFill>
                  <a:srgbClr val="FFFFFF"/>
                </a:solidFill>
                <a:latin typeface="Yu Gothic"/>
              </a:rPr>
              <a:t>動物病院</a:t>
            </a:r>
          </a:p>
        </p:txBody>
      </p:sp>
      <p:sp>
        <p:nvSpPr>
          <p:cNvPr id="20" name="Rounded Rectangle 19"/>
          <p:cNvSpPr/>
          <p:nvPr/>
        </p:nvSpPr>
        <p:spPr>
          <a:xfrm>
            <a:off x="8884767" y="1965960"/>
            <a:ext cx="2514600" cy="169164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location_grooming.jpg"/>
          <p:cNvPicPr>
            <a:picLocks noChangeAspect="1"/>
          </p:cNvPicPr>
          <p:nvPr/>
        </p:nvPicPr>
        <p:blipFill>
          <a:blip r:embed="rId5"/>
          <a:srcRect l="9459" r="9459"/>
          <a:stretch>
            <a:fillRect/>
          </a:stretch>
        </p:blipFill>
        <p:spPr>
          <a:xfrm>
            <a:off x="8884767" y="1965960"/>
            <a:ext cx="2514600" cy="1691640"/>
          </a:xfrm>
          <a:prstGeom prst="rect">
            <a:avLst/>
          </a:prstGeom>
        </p:spPr>
      </p:pic>
      <p:sp>
        <p:nvSpPr>
          <p:cNvPr id="22" name="Rounded Rectangle 21"/>
          <p:cNvSpPr/>
          <p:nvPr/>
        </p:nvSpPr>
        <p:spPr>
          <a:xfrm>
            <a:off x="8884767" y="1965960"/>
            <a:ext cx="2514600" cy="1691640"/>
          </a:xfrm>
          <a:prstGeom prst="roundRect">
            <a:avLst>
              <a:gd name="adj" fmla="val 6000"/>
            </a:avLst>
          </a:prstGeom>
          <a:noFill/>
          <a:ln w="317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884767" y="3200400"/>
            <a:ext cx="2514600" cy="457200"/>
          </a:xfrm>
          <a:prstGeom prst="rect">
            <a:avLst/>
          </a:prstGeom>
          <a:solidFill>
            <a:srgbClr val="1737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884767" y="3218688"/>
            <a:ext cx="2514600" cy="411480"/>
          </a:xfrm>
          <a:prstGeom prst="rect">
            <a:avLst/>
          </a:prstGeom>
          <a:noFill/>
        </p:spPr>
        <p:txBody>
          <a:bodyPr wrap="square" anchor="ctr" lIns="0" rIns="0" tIns="0" bIns="0">
            <a:spAutoFit/>
          </a:bodyPr>
          <a:lstStyle/>
          <a:p>
            <a:pPr algn="ctr">
              <a:lnSpc>
                <a:spcPct val="115000"/>
              </a:lnSpc>
            </a:pPr>
            <a:r>
              <a:rPr sz="1300" b="1" i="0">
                <a:solidFill>
                  <a:srgbClr val="FFFFFF"/>
                </a:solidFill>
                <a:latin typeface="Yu Gothic"/>
              </a:rPr>
              <a:t>トリミングサロン</a:t>
            </a:r>
          </a:p>
        </p:txBody>
      </p:sp>
      <p:sp>
        <p:nvSpPr>
          <p:cNvPr id="25" name="Rounded Rectangle 24"/>
          <p:cNvSpPr/>
          <p:nvPr/>
        </p:nvSpPr>
        <p:spPr>
          <a:xfrm>
            <a:off x="792327" y="4251960"/>
            <a:ext cx="2514600" cy="169164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location_pethotel.jpg"/>
          <p:cNvPicPr>
            <a:picLocks noChangeAspect="1"/>
          </p:cNvPicPr>
          <p:nvPr/>
        </p:nvPicPr>
        <p:blipFill>
          <a:blip r:embed="rId6"/>
          <a:srcRect l="9459" r="9459"/>
          <a:stretch>
            <a:fillRect/>
          </a:stretch>
        </p:blipFill>
        <p:spPr>
          <a:xfrm>
            <a:off x="792327" y="4251960"/>
            <a:ext cx="2514600" cy="1691640"/>
          </a:xfrm>
          <a:prstGeom prst="rect">
            <a:avLst/>
          </a:prstGeom>
        </p:spPr>
      </p:pic>
      <p:sp>
        <p:nvSpPr>
          <p:cNvPr id="27" name="Rounded Rectangle 26"/>
          <p:cNvSpPr/>
          <p:nvPr/>
        </p:nvSpPr>
        <p:spPr>
          <a:xfrm>
            <a:off x="792327" y="4251960"/>
            <a:ext cx="2514600" cy="1691640"/>
          </a:xfrm>
          <a:prstGeom prst="roundRect">
            <a:avLst>
              <a:gd name="adj" fmla="val 6000"/>
            </a:avLst>
          </a:prstGeom>
          <a:noFill/>
          <a:ln w="317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92327" y="5486400"/>
            <a:ext cx="2514600" cy="457200"/>
          </a:xfrm>
          <a:prstGeom prst="rect">
            <a:avLst/>
          </a:prstGeom>
          <a:solidFill>
            <a:srgbClr val="1737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92327" y="5504688"/>
            <a:ext cx="2514600" cy="411480"/>
          </a:xfrm>
          <a:prstGeom prst="rect">
            <a:avLst/>
          </a:prstGeom>
          <a:noFill/>
        </p:spPr>
        <p:txBody>
          <a:bodyPr wrap="square" anchor="ctr" lIns="0" rIns="0" tIns="0" bIns="0">
            <a:spAutoFit/>
          </a:bodyPr>
          <a:lstStyle/>
          <a:p>
            <a:pPr algn="ctr">
              <a:lnSpc>
                <a:spcPct val="115000"/>
              </a:lnSpc>
            </a:pPr>
            <a:r>
              <a:rPr sz="1300" b="1" i="0">
                <a:solidFill>
                  <a:srgbClr val="FFFFFF"/>
                </a:solidFill>
                <a:latin typeface="Yu Gothic"/>
              </a:rPr>
              <a:t>ペットホテル</a:t>
            </a:r>
          </a:p>
        </p:txBody>
      </p:sp>
      <p:sp>
        <p:nvSpPr>
          <p:cNvPr id="30" name="Rounded Rectangle 29"/>
          <p:cNvSpPr/>
          <p:nvPr/>
        </p:nvSpPr>
        <p:spPr>
          <a:xfrm>
            <a:off x="3489807" y="4251960"/>
            <a:ext cx="2514600" cy="169164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1" name="Picture 30" descr="location_shelter_org.jpg"/>
          <p:cNvPicPr>
            <a:picLocks noChangeAspect="1"/>
          </p:cNvPicPr>
          <p:nvPr/>
        </p:nvPicPr>
        <p:blipFill>
          <a:blip r:embed="rId7"/>
          <a:srcRect l="9459" r="9459"/>
          <a:stretch>
            <a:fillRect/>
          </a:stretch>
        </p:blipFill>
        <p:spPr>
          <a:xfrm>
            <a:off x="3489807" y="4251960"/>
            <a:ext cx="2514600" cy="1691640"/>
          </a:xfrm>
          <a:prstGeom prst="rect">
            <a:avLst/>
          </a:prstGeom>
        </p:spPr>
      </p:pic>
      <p:sp>
        <p:nvSpPr>
          <p:cNvPr id="32" name="Rounded Rectangle 31"/>
          <p:cNvSpPr/>
          <p:nvPr/>
        </p:nvSpPr>
        <p:spPr>
          <a:xfrm>
            <a:off x="3489807" y="4251960"/>
            <a:ext cx="2514600" cy="1691640"/>
          </a:xfrm>
          <a:prstGeom prst="roundRect">
            <a:avLst>
              <a:gd name="adj" fmla="val 6000"/>
            </a:avLst>
          </a:prstGeom>
          <a:noFill/>
          <a:ln w="317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489807" y="5486400"/>
            <a:ext cx="2514600" cy="457200"/>
          </a:xfrm>
          <a:prstGeom prst="rect">
            <a:avLst/>
          </a:prstGeom>
          <a:solidFill>
            <a:srgbClr val="1737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489807" y="5504688"/>
            <a:ext cx="2514600" cy="411480"/>
          </a:xfrm>
          <a:prstGeom prst="rect">
            <a:avLst/>
          </a:prstGeom>
          <a:noFill/>
        </p:spPr>
        <p:txBody>
          <a:bodyPr wrap="square" anchor="ctr" lIns="0" rIns="0" tIns="0" bIns="0">
            <a:spAutoFit/>
          </a:bodyPr>
          <a:lstStyle/>
          <a:p>
            <a:pPr algn="ctr">
              <a:lnSpc>
                <a:spcPct val="115000"/>
              </a:lnSpc>
            </a:pPr>
            <a:r>
              <a:rPr sz="1300" b="1" i="0">
                <a:solidFill>
                  <a:srgbClr val="FFFFFF"/>
                </a:solidFill>
                <a:latin typeface="Yu Gothic"/>
              </a:rPr>
              <a:t>保護団体</a:t>
            </a:r>
          </a:p>
        </p:txBody>
      </p:sp>
      <p:sp>
        <p:nvSpPr>
          <p:cNvPr id="35" name="Rounded Rectangle 34"/>
          <p:cNvSpPr/>
          <p:nvPr/>
        </p:nvSpPr>
        <p:spPr>
          <a:xfrm>
            <a:off x="6187287" y="4251960"/>
            <a:ext cx="2514600" cy="169164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6" name="Picture 35" descr="location_petshop.jpg"/>
          <p:cNvPicPr>
            <a:picLocks noChangeAspect="1"/>
          </p:cNvPicPr>
          <p:nvPr/>
        </p:nvPicPr>
        <p:blipFill>
          <a:blip r:embed="rId8"/>
          <a:srcRect l="9459" r="9459"/>
          <a:stretch>
            <a:fillRect/>
          </a:stretch>
        </p:blipFill>
        <p:spPr>
          <a:xfrm>
            <a:off x="6187287" y="4251960"/>
            <a:ext cx="2514600" cy="1691640"/>
          </a:xfrm>
          <a:prstGeom prst="rect">
            <a:avLst/>
          </a:prstGeom>
        </p:spPr>
      </p:pic>
      <p:sp>
        <p:nvSpPr>
          <p:cNvPr id="37" name="Rounded Rectangle 36"/>
          <p:cNvSpPr/>
          <p:nvPr/>
        </p:nvSpPr>
        <p:spPr>
          <a:xfrm>
            <a:off x="6187287" y="4251960"/>
            <a:ext cx="2514600" cy="1691640"/>
          </a:xfrm>
          <a:prstGeom prst="roundRect">
            <a:avLst>
              <a:gd name="adj" fmla="val 6000"/>
            </a:avLst>
          </a:prstGeom>
          <a:noFill/>
          <a:ln w="317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6187287" y="5486400"/>
            <a:ext cx="2514600" cy="457200"/>
          </a:xfrm>
          <a:prstGeom prst="rect">
            <a:avLst/>
          </a:prstGeom>
          <a:solidFill>
            <a:srgbClr val="1737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187287" y="5504688"/>
            <a:ext cx="2514600" cy="411480"/>
          </a:xfrm>
          <a:prstGeom prst="rect">
            <a:avLst/>
          </a:prstGeom>
          <a:noFill/>
        </p:spPr>
        <p:txBody>
          <a:bodyPr wrap="square" anchor="ctr" lIns="0" rIns="0" tIns="0" bIns="0">
            <a:spAutoFit/>
          </a:bodyPr>
          <a:lstStyle/>
          <a:p>
            <a:pPr algn="ctr">
              <a:lnSpc>
                <a:spcPct val="115000"/>
              </a:lnSpc>
            </a:pPr>
            <a:r>
              <a:rPr sz="1300" b="1" i="0">
                <a:solidFill>
                  <a:srgbClr val="FFFFFF"/>
                </a:solidFill>
                <a:latin typeface="Yu Gothic"/>
              </a:rPr>
              <a:t>ペットショップ</a:t>
            </a:r>
          </a:p>
        </p:txBody>
      </p:sp>
      <p:sp>
        <p:nvSpPr>
          <p:cNvPr id="40" name="Rounded Rectangle 39"/>
          <p:cNvSpPr/>
          <p:nvPr/>
        </p:nvSpPr>
        <p:spPr>
          <a:xfrm>
            <a:off x="8884767" y="4251960"/>
            <a:ext cx="2514600" cy="169164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1" name="Picture 40" descr="location_community_event.jpg"/>
          <p:cNvPicPr>
            <a:picLocks noChangeAspect="1"/>
          </p:cNvPicPr>
          <p:nvPr/>
        </p:nvPicPr>
        <p:blipFill>
          <a:blip r:embed="rId9"/>
          <a:srcRect l="9459" r="9459"/>
          <a:stretch>
            <a:fillRect/>
          </a:stretch>
        </p:blipFill>
        <p:spPr>
          <a:xfrm>
            <a:off x="8884767" y="4251960"/>
            <a:ext cx="2514600" cy="1691640"/>
          </a:xfrm>
          <a:prstGeom prst="rect">
            <a:avLst/>
          </a:prstGeom>
        </p:spPr>
      </p:pic>
      <p:sp>
        <p:nvSpPr>
          <p:cNvPr id="42" name="Rounded Rectangle 41"/>
          <p:cNvSpPr/>
          <p:nvPr/>
        </p:nvSpPr>
        <p:spPr>
          <a:xfrm>
            <a:off x="8884767" y="4251960"/>
            <a:ext cx="2514600" cy="1691640"/>
          </a:xfrm>
          <a:prstGeom prst="roundRect">
            <a:avLst>
              <a:gd name="adj" fmla="val 6000"/>
            </a:avLst>
          </a:prstGeom>
          <a:noFill/>
          <a:ln w="317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8884767" y="5486400"/>
            <a:ext cx="2514600" cy="457200"/>
          </a:xfrm>
          <a:prstGeom prst="rect">
            <a:avLst/>
          </a:prstGeom>
          <a:solidFill>
            <a:srgbClr val="1737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884767" y="5504688"/>
            <a:ext cx="2514600" cy="411480"/>
          </a:xfrm>
          <a:prstGeom prst="rect">
            <a:avLst/>
          </a:prstGeom>
          <a:noFill/>
        </p:spPr>
        <p:txBody>
          <a:bodyPr wrap="square" anchor="ctr" lIns="0" rIns="0" tIns="0" bIns="0">
            <a:spAutoFit/>
          </a:bodyPr>
          <a:lstStyle/>
          <a:p>
            <a:pPr algn="ctr">
              <a:lnSpc>
                <a:spcPct val="115000"/>
              </a:lnSpc>
            </a:pPr>
            <a:r>
              <a:rPr sz="1300" b="1" i="0">
                <a:solidFill>
                  <a:srgbClr val="FFFFFF"/>
                </a:solidFill>
                <a:latin typeface="Yu Gothic"/>
              </a:rPr>
              <a:t>地域イベント</a:t>
            </a:r>
          </a:p>
        </p:txBody>
      </p:sp>
      <p:sp>
        <p:nvSpPr>
          <p:cNvPr id="45" name="TextBox 44"/>
          <p:cNvSpPr txBox="1"/>
          <p:nvPr/>
        </p:nvSpPr>
        <p:spPr>
          <a:xfrm>
            <a:off x="457200" y="6492240"/>
            <a:ext cx="6400800" cy="274320"/>
          </a:xfrm>
          <a:prstGeom prst="rect">
            <a:avLst/>
          </a:prstGeom>
          <a:noFill/>
        </p:spPr>
        <p:txBody>
          <a:bodyPr wrap="square" anchor="t" lIns="0" rIns="0" tIns="0" bIns="0">
            <a:spAutoFit/>
          </a:bodyPr>
          <a:lstStyle/>
          <a:p>
            <a:pPr algn="l">
              <a:lnSpc>
                <a:spcPct val="115000"/>
              </a:lnSpc>
            </a:pPr>
            <a:r>
              <a:rPr sz="900" b="0" i="0">
                <a:solidFill>
                  <a:srgbClr val="767C85"/>
                </a:solidFill>
                <a:latin typeface="Yu Gothic"/>
              </a:rPr>
              <a:t>一般社団法人 ペット防災アドバイザー協会　PDPA-101</a:t>
            </a:r>
          </a:p>
        </p:txBody>
      </p:sp>
      <p:sp>
        <p:nvSpPr>
          <p:cNvPr id="46" name="TextBox 45"/>
          <p:cNvSpPr txBox="1"/>
          <p:nvPr/>
        </p:nvSpPr>
        <p:spPr>
          <a:xfrm>
            <a:off x="11521440" y="6492240"/>
            <a:ext cx="457200" cy="274320"/>
          </a:xfrm>
          <a:prstGeom prst="rect">
            <a:avLst/>
          </a:prstGeom>
          <a:noFill/>
        </p:spPr>
        <p:txBody>
          <a:bodyPr wrap="square" anchor="t" lIns="0" rIns="0" tIns="0" bIns="0">
            <a:spAutoFit/>
          </a:bodyPr>
          <a:lstStyle/>
          <a:p>
            <a:pPr algn="r">
              <a:lnSpc>
                <a:spcPct val="115000"/>
              </a:lnSpc>
            </a:pPr>
            <a:r>
              <a:rPr sz="900" b="0" i="0">
                <a:solidFill>
                  <a:srgbClr val="767C85"/>
                </a:solidFill>
                <a:latin typeface="Yu Gothic"/>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7375E"/>
        </a:solidFill>
        <a:effectLst/>
      </p:bgPr>
    </p:bg>
    <p:spTree>
      <p:nvGrpSpPr>
        <p:cNvPr id="1" name=""/>
        <p:cNvGrpSpPr/>
        <p:nvPr/>
      </p:nvGrpSpPr>
      <p:grpSpPr/>
      <p:sp>
        <p:nvSpPr>
          <p:cNvPr id="2" name="TextBox 1"/>
          <p:cNvSpPr txBox="1"/>
          <p:nvPr/>
        </p:nvSpPr>
        <p:spPr>
          <a:xfrm>
            <a:off x="640080" y="502920"/>
            <a:ext cx="4572000" cy="365760"/>
          </a:xfrm>
          <a:prstGeom prst="rect">
            <a:avLst/>
          </a:prstGeom>
          <a:noFill/>
        </p:spPr>
        <p:txBody>
          <a:bodyPr wrap="square" anchor="t" lIns="0" rIns="0" tIns="0" bIns="0">
            <a:spAutoFit/>
          </a:bodyPr>
          <a:lstStyle/>
          <a:p>
            <a:pPr algn="l">
              <a:lnSpc>
                <a:spcPct val="115000"/>
              </a:lnSpc>
            </a:pPr>
            <a:r>
              <a:rPr sz="1400" b="1" i="0">
                <a:solidFill>
                  <a:srgbClr val="F5A623"/>
                </a:solidFill>
                <a:latin typeface="Yu Gothic"/>
              </a:rPr>
              <a:t>BOUNDARIES</a:t>
            </a:r>
          </a:p>
        </p:txBody>
      </p:sp>
      <p:sp>
        <p:nvSpPr>
          <p:cNvPr id="3" name="TextBox 2"/>
          <p:cNvSpPr txBox="1"/>
          <p:nvPr/>
        </p:nvSpPr>
        <p:spPr>
          <a:xfrm>
            <a:off x="640080" y="822960"/>
            <a:ext cx="10515600" cy="822960"/>
          </a:xfrm>
          <a:prstGeom prst="rect">
            <a:avLst/>
          </a:prstGeom>
          <a:noFill/>
        </p:spPr>
        <p:txBody>
          <a:bodyPr wrap="square" anchor="t" lIns="0" rIns="0" tIns="0" bIns="0">
            <a:spAutoFit/>
          </a:bodyPr>
          <a:lstStyle/>
          <a:p>
            <a:pPr algn="l">
              <a:lnSpc>
                <a:spcPct val="115000"/>
              </a:lnSpc>
            </a:pPr>
            <a:r>
              <a:rPr sz="3000" b="1" i="0">
                <a:solidFill>
                  <a:srgbClr val="FFFFFF"/>
                </a:solidFill>
                <a:latin typeface="Yu Gothic"/>
              </a:rPr>
              <a:t>してはいけないこと</a:t>
            </a:r>
          </a:p>
        </p:txBody>
      </p:sp>
      <p:sp>
        <p:nvSpPr>
          <p:cNvPr id="4" name="Rectangle 3"/>
          <p:cNvSpPr/>
          <p:nvPr/>
        </p:nvSpPr>
        <p:spPr>
          <a:xfrm>
            <a:off x="640080" y="1600200"/>
            <a:ext cx="822960" cy="3810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2103120"/>
            <a:ext cx="10881360" cy="3840480"/>
          </a:xfrm>
          <a:prstGeom prst="roundRect">
            <a:avLst>
              <a:gd name="adj" fmla="val 5000"/>
            </a:avLst>
          </a:prstGeom>
          <a:solidFill>
            <a:srgbClr val="2245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2514600"/>
            <a:ext cx="9966960" cy="3017520"/>
          </a:xfrm>
          <a:prstGeom prst="rect">
            <a:avLst/>
          </a:prstGeom>
          <a:noFill/>
        </p:spPr>
        <p:txBody>
          <a:bodyPr wrap="square" anchor="t" lIns="0" rIns="0" tIns="0" bIns="0">
            <a:spAutoFit/>
          </a:bodyPr>
          <a:lstStyle/>
          <a:p>
            <a:pPr algn="l">
              <a:lnSpc>
                <a:spcPct val="150000"/>
              </a:lnSpc>
            </a:pPr>
            <a:r>
              <a:rPr sz="1800" b="0" i="0">
                <a:solidFill>
                  <a:srgbClr val="FFFFFF"/>
                </a:solidFill>
                <a:latin typeface="Yu Gothic"/>
              </a:rPr>
              <a:t>アドバイザーの活動は「防災啓発・教育・情報提供」が中心です。</a:t>
            </a:r>
          </a:p>
          <a:p>
            <a:pPr algn="l">
              <a:lnSpc>
                <a:spcPct val="150000"/>
              </a:lnSpc>
            </a:pPr>
            <a:r>
              <a:rPr sz="1800" b="0" i="0">
                <a:solidFill>
                  <a:srgbClr val="FFFFFF"/>
                </a:solidFill>
                <a:latin typeface="Yu Gothic"/>
              </a:rPr>
              <a:t/>
            </a:r>
          </a:p>
          <a:p>
            <a:pPr algn="l">
              <a:lnSpc>
                <a:spcPct val="150000"/>
              </a:lnSpc>
            </a:pPr>
            <a:r>
              <a:rPr sz="1800" b="0" i="0">
                <a:solidFill>
                  <a:srgbClr val="FFFFFF"/>
                </a:solidFill>
                <a:latin typeface="Yu Gothic"/>
              </a:rPr>
              <a:t>獣医療行為、避難所運営の意思決定、行政の公式判断など、</a:t>
            </a:r>
          </a:p>
          <a:p>
            <a:pPr algn="l">
              <a:lnSpc>
                <a:spcPct val="150000"/>
              </a:lnSpc>
            </a:pPr>
            <a:r>
              <a:rPr sz="1800" b="0" i="0">
                <a:solidFill>
                  <a:srgbClr val="FFFFFF"/>
                </a:solidFill>
                <a:latin typeface="Yu Gothic"/>
              </a:rPr>
              <a:t>専門資格や権限が必要な領域には立ち入りません。</a:t>
            </a:r>
          </a:p>
          <a:p>
            <a:pPr algn="l">
              <a:lnSpc>
                <a:spcPct val="150000"/>
              </a:lnSpc>
            </a:pPr>
            <a:r>
              <a:rPr sz="1800" b="0" i="0">
                <a:solidFill>
                  <a:srgbClr val="FFFFFF"/>
                </a:solidFill>
                <a:latin typeface="Yu Gothic"/>
              </a:rPr>
              <a:t/>
            </a:r>
          </a:p>
          <a:p>
            <a:pPr algn="l">
              <a:lnSpc>
                <a:spcPct val="150000"/>
              </a:lnSpc>
            </a:pPr>
            <a:r>
              <a:rPr sz="1800" b="0" i="0">
                <a:solidFill>
                  <a:srgbClr val="FFFFFF"/>
                </a:solidFill>
                <a:latin typeface="Yu Gothic"/>
              </a:rPr>
              <a:t>判断に迷う相談を受けたときは、獣医師や自治体窓口など</a:t>
            </a:r>
          </a:p>
          <a:p>
            <a:pPr algn="l">
              <a:lnSpc>
                <a:spcPct val="150000"/>
              </a:lnSpc>
            </a:pPr>
            <a:r>
              <a:rPr sz="1800" b="0" i="0">
                <a:solidFill>
                  <a:srgbClr val="FFFFFF"/>
                </a:solidFill>
                <a:latin typeface="Yu Gothic"/>
              </a:rPr>
              <a:t>適切な専門職への「橋渡し役」であることを大切にしましょう。</a:t>
            </a:r>
          </a:p>
        </p:txBody>
      </p:sp>
      <p:sp>
        <p:nvSpPr>
          <p:cNvPr id="7" name="TextBox 6"/>
          <p:cNvSpPr txBox="1"/>
          <p:nvPr/>
        </p:nvSpPr>
        <p:spPr>
          <a:xfrm>
            <a:off x="457200" y="6492240"/>
            <a:ext cx="6400800" cy="274320"/>
          </a:xfrm>
          <a:prstGeom prst="rect">
            <a:avLst/>
          </a:prstGeom>
          <a:noFill/>
        </p:spPr>
        <p:txBody>
          <a:bodyPr wrap="square" anchor="t" lIns="0" rIns="0" tIns="0" bIns="0">
            <a:spAutoFit/>
          </a:bodyPr>
          <a:lstStyle/>
          <a:p>
            <a:pPr algn="l">
              <a:lnSpc>
                <a:spcPct val="115000"/>
              </a:lnSpc>
            </a:pPr>
            <a:r>
              <a:rPr sz="900" b="0" i="0">
                <a:solidFill>
                  <a:srgbClr val="C7CDD6"/>
                </a:solidFill>
                <a:latin typeface="Yu Gothic"/>
              </a:rPr>
              <a:t>一般社団法人 ペット防災アドバイザー協会　PDPA-101</a:t>
            </a:r>
          </a:p>
        </p:txBody>
      </p:sp>
      <p:sp>
        <p:nvSpPr>
          <p:cNvPr id="8" name="TextBox 7"/>
          <p:cNvSpPr txBox="1"/>
          <p:nvPr/>
        </p:nvSpPr>
        <p:spPr>
          <a:xfrm>
            <a:off x="11521440" y="6492240"/>
            <a:ext cx="457200" cy="274320"/>
          </a:xfrm>
          <a:prstGeom prst="rect">
            <a:avLst/>
          </a:prstGeom>
          <a:noFill/>
        </p:spPr>
        <p:txBody>
          <a:bodyPr wrap="square" anchor="t" lIns="0" rIns="0" tIns="0" bIns="0">
            <a:spAutoFit/>
          </a:bodyPr>
          <a:lstStyle/>
          <a:p>
            <a:pPr algn="r">
              <a:lnSpc>
                <a:spcPct val="115000"/>
              </a:lnSpc>
            </a:pPr>
            <a:r>
              <a:rPr sz="900" b="0" i="0">
                <a:solidFill>
                  <a:srgbClr val="C7CDD6"/>
                </a:solidFill>
                <a:latin typeface="Yu Gothic"/>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3F5F7"/>
        </a:solidFill>
        <a:effectLst/>
      </p:bgPr>
    </p:bg>
    <p:spTree>
      <p:nvGrpSpPr>
        <p:cNvPr id="1" name=""/>
        <p:cNvGrpSpPr/>
        <p:nvPr/>
      </p:nvGrpSpPr>
      <p:grpSpPr/>
      <p:sp>
        <p:nvSpPr>
          <p:cNvPr id="2" name="TextBox 1"/>
          <p:cNvSpPr txBox="1"/>
          <p:nvPr/>
        </p:nvSpPr>
        <p:spPr>
          <a:xfrm>
            <a:off x="640080" y="502920"/>
            <a:ext cx="4572000" cy="365760"/>
          </a:xfrm>
          <a:prstGeom prst="rect">
            <a:avLst/>
          </a:prstGeom>
          <a:noFill/>
        </p:spPr>
        <p:txBody>
          <a:bodyPr wrap="square" anchor="t" lIns="0" rIns="0" tIns="0" bIns="0">
            <a:spAutoFit/>
          </a:bodyPr>
          <a:lstStyle/>
          <a:p>
            <a:pPr algn="l">
              <a:lnSpc>
                <a:spcPct val="115000"/>
              </a:lnSpc>
            </a:pPr>
            <a:r>
              <a:rPr sz="1400" b="1" i="0">
                <a:solidFill>
                  <a:srgbClr val="F5A623"/>
                </a:solidFill>
                <a:latin typeface="Yu Gothic"/>
              </a:rPr>
              <a:t>COLLABORATION</a:t>
            </a:r>
          </a:p>
        </p:txBody>
      </p:sp>
      <p:sp>
        <p:nvSpPr>
          <p:cNvPr id="3" name="TextBox 2"/>
          <p:cNvSpPr txBox="1"/>
          <p:nvPr/>
        </p:nvSpPr>
        <p:spPr>
          <a:xfrm>
            <a:off x="640080" y="822960"/>
            <a:ext cx="10515600" cy="822960"/>
          </a:xfrm>
          <a:prstGeom prst="rect">
            <a:avLst/>
          </a:prstGeom>
          <a:noFill/>
        </p:spPr>
        <p:txBody>
          <a:bodyPr wrap="square" anchor="t" lIns="0" rIns="0" tIns="0" bIns="0">
            <a:spAutoFit/>
          </a:bodyPr>
          <a:lstStyle/>
          <a:p>
            <a:pPr algn="l">
              <a:lnSpc>
                <a:spcPct val="115000"/>
              </a:lnSpc>
            </a:pPr>
            <a:r>
              <a:rPr sz="3000" b="1" i="0">
                <a:solidFill>
                  <a:srgbClr val="17375E"/>
                </a:solidFill>
                <a:latin typeface="Yu Gothic"/>
              </a:rPr>
              <a:t>専門職との連携</a:t>
            </a:r>
          </a:p>
        </p:txBody>
      </p:sp>
      <p:sp>
        <p:nvSpPr>
          <p:cNvPr id="4" name="Rectangle 3"/>
          <p:cNvSpPr/>
          <p:nvPr/>
        </p:nvSpPr>
        <p:spPr>
          <a:xfrm>
            <a:off x="640080" y="1600200"/>
            <a:ext cx="822960" cy="3810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2103120"/>
            <a:ext cx="3520440" cy="3749039"/>
          </a:xfrm>
          <a:prstGeom prst="roundRect">
            <a:avLst>
              <a:gd name="adj" fmla="val 6000"/>
            </a:avLst>
          </a:prstGeom>
          <a:solidFill>
            <a:srgbClr val="FFFFFF"/>
          </a:solidFill>
          <a:ln w="12700">
            <a:solidFill>
              <a:srgbClr val="EAE6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40080" y="2103120"/>
            <a:ext cx="3520440" cy="20116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ollab_vet.jpg"/>
          <p:cNvPicPr>
            <a:picLocks noChangeAspect="1"/>
          </p:cNvPicPr>
          <p:nvPr/>
        </p:nvPicPr>
        <p:blipFill>
          <a:blip r:embed="rId2"/>
          <a:srcRect l="2273" r="2273"/>
          <a:stretch>
            <a:fillRect/>
          </a:stretch>
        </p:blipFill>
        <p:spPr>
          <a:xfrm>
            <a:off x="640080" y="2103120"/>
            <a:ext cx="3520440" cy="2011680"/>
          </a:xfrm>
          <a:prstGeom prst="rect">
            <a:avLst/>
          </a:prstGeom>
        </p:spPr>
      </p:pic>
      <p:sp>
        <p:nvSpPr>
          <p:cNvPr id="8" name="Rounded Rectangle 7"/>
          <p:cNvSpPr/>
          <p:nvPr/>
        </p:nvSpPr>
        <p:spPr>
          <a:xfrm>
            <a:off x="640080" y="2103120"/>
            <a:ext cx="3520440" cy="2011680"/>
          </a:xfrm>
          <a:prstGeom prst="roundRect">
            <a:avLst>
              <a:gd name="adj" fmla="val 6000"/>
            </a:avLst>
          </a:prstGeom>
          <a:noFill/>
          <a:ln w="317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4297680"/>
            <a:ext cx="3063240" cy="457200"/>
          </a:xfrm>
          <a:prstGeom prst="rect">
            <a:avLst/>
          </a:prstGeom>
          <a:noFill/>
        </p:spPr>
        <p:txBody>
          <a:bodyPr wrap="square" anchor="t" lIns="0" rIns="0" tIns="0" bIns="0">
            <a:spAutoFit/>
          </a:bodyPr>
          <a:lstStyle/>
          <a:p>
            <a:pPr algn="l">
              <a:lnSpc>
                <a:spcPct val="115000"/>
              </a:lnSpc>
            </a:pPr>
            <a:r>
              <a:rPr sz="1600" b="1" i="0">
                <a:solidFill>
                  <a:srgbClr val="17375E"/>
                </a:solidFill>
                <a:latin typeface="Yu Gothic"/>
              </a:rPr>
              <a:t>獣医師・看護師</a:t>
            </a:r>
          </a:p>
        </p:txBody>
      </p:sp>
      <p:sp>
        <p:nvSpPr>
          <p:cNvPr id="10" name="TextBox 9"/>
          <p:cNvSpPr txBox="1"/>
          <p:nvPr/>
        </p:nvSpPr>
        <p:spPr>
          <a:xfrm>
            <a:off x="868680" y="4800600"/>
            <a:ext cx="3063240" cy="914400"/>
          </a:xfrm>
          <a:prstGeom prst="rect">
            <a:avLst/>
          </a:prstGeom>
          <a:noFill/>
        </p:spPr>
        <p:txBody>
          <a:bodyPr wrap="square" anchor="t" lIns="0" rIns="0" tIns="0" bIns="0">
            <a:spAutoFit/>
          </a:bodyPr>
          <a:lstStyle/>
          <a:p>
            <a:pPr algn="l">
              <a:lnSpc>
                <a:spcPct val="130000"/>
              </a:lnSpc>
            </a:pPr>
            <a:r>
              <a:rPr sz="1200" b="0" i="0">
                <a:solidFill>
                  <a:srgbClr val="767C85"/>
                </a:solidFill>
                <a:latin typeface="Yu Gothic"/>
              </a:rPr>
              <a:t>診療の合間に飼い主へ防災の声かけ</a:t>
            </a:r>
          </a:p>
        </p:txBody>
      </p:sp>
      <p:sp>
        <p:nvSpPr>
          <p:cNvPr id="11" name="Rounded Rectangle 10"/>
          <p:cNvSpPr/>
          <p:nvPr/>
        </p:nvSpPr>
        <p:spPr>
          <a:xfrm>
            <a:off x="4389120" y="2103120"/>
            <a:ext cx="3520440" cy="3749039"/>
          </a:xfrm>
          <a:prstGeom prst="roundRect">
            <a:avLst>
              <a:gd name="adj" fmla="val 6000"/>
            </a:avLst>
          </a:prstGeom>
          <a:solidFill>
            <a:srgbClr val="FFFFFF"/>
          </a:solidFill>
          <a:ln w="12700">
            <a:solidFill>
              <a:srgbClr val="EAE6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9120" y="2103120"/>
            <a:ext cx="3520440" cy="20116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ollab_groomer.jpg"/>
          <p:cNvPicPr>
            <a:picLocks noChangeAspect="1"/>
          </p:cNvPicPr>
          <p:nvPr/>
        </p:nvPicPr>
        <p:blipFill>
          <a:blip r:embed="rId3"/>
          <a:srcRect l="2273" r="2273"/>
          <a:stretch>
            <a:fillRect/>
          </a:stretch>
        </p:blipFill>
        <p:spPr>
          <a:xfrm>
            <a:off x="4389120" y="2103120"/>
            <a:ext cx="3520440" cy="2011680"/>
          </a:xfrm>
          <a:prstGeom prst="rect">
            <a:avLst/>
          </a:prstGeom>
        </p:spPr>
      </p:pic>
      <p:sp>
        <p:nvSpPr>
          <p:cNvPr id="14" name="Rounded Rectangle 13"/>
          <p:cNvSpPr/>
          <p:nvPr/>
        </p:nvSpPr>
        <p:spPr>
          <a:xfrm>
            <a:off x="4389120" y="2103120"/>
            <a:ext cx="3520440" cy="2011680"/>
          </a:xfrm>
          <a:prstGeom prst="roundRect">
            <a:avLst>
              <a:gd name="adj" fmla="val 6000"/>
            </a:avLst>
          </a:prstGeom>
          <a:noFill/>
          <a:ln w="317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17720" y="4297680"/>
            <a:ext cx="3063240" cy="457200"/>
          </a:xfrm>
          <a:prstGeom prst="rect">
            <a:avLst/>
          </a:prstGeom>
          <a:noFill/>
        </p:spPr>
        <p:txBody>
          <a:bodyPr wrap="square" anchor="t" lIns="0" rIns="0" tIns="0" bIns="0">
            <a:spAutoFit/>
          </a:bodyPr>
          <a:lstStyle/>
          <a:p>
            <a:pPr algn="l">
              <a:lnSpc>
                <a:spcPct val="115000"/>
              </a:lnSpc>
            </a:pPr>
            <a:r>
              <a:rPr sz="1600" b="1" i="0">
                <a:solidFill>
                  <a:srgbClr val="17375E"/>
                </a:solidFill>
                <a:latin typeface="Yu Gothic"/>
              </a:rPr>
              <a:t>トリマー・訓練士</a:t>
            </a:r>
          </a:p>
        </p:txBody>
      </p:sp>
      <p:sp>
        <p:nvSpPr>
          <p:cNvPr id="16" name="TextBox 15"/>
          <p:cNvSpPr txBox="1"/>
          <p:nvPr/>
        </p:nvSpPr>
        <p:spPr>
          <a:xfrm>
            <a:off x="4617720" y="4800600"/>
            <a:ext cx="3063240" cy="914400"/>
          </a:xfrm>
          <a:prstGeom prst="rect">
            <a:avLst/>
          </a:prstGeom>
          <a:noFill/>
        </p:spPr>
        <p:txBody>
          <a:bodyPr wrap="square" anchor="t" lIns="0" rIns="0" tIns="0" bIns="0">
            <a:spAutoFit/>
          </a:bodyPr>
          <a:lstStyle/>
          <a:p>
            <a:pPr algn="l">
              <a:lnSpc>
                <a:spcPct val="130000"/>
              </a:lnSpc>
            </a:pPr>
            <a:r>
              <a:rPr sz="1200" b="0" i="0">
                <a:solidFill>
                  <a:srgbClr val="767C85"/>
                </a:solidFill>
                <a:latin typeface="Yu Gothic"/>
              </a:rPr>
              <a:t>施術時に備蓄状況などをヒアリング</a:t>
            </a:r>
          </a:p>
        </p:txBody>
      </p:sp>
      <p:sp>
        <p:nvSpPr>
          <p:cNvPr id="17" name="Rounded Rectangle 16"/>
          <p:cNvSpPr/>
          <p:nvPr/>
        </p:nvSpPr>
        <p:spPr>
          <a:xfrm>
            <a:off x="8138160" y="2103120"/>
            <a:ext cx="3520440" cy="3749039"/>
          </a:xfrm>
          <a:prstGeom prst="roundRect">
            <a:avLst>
              <a:gd name="adj" fmla="val 6000"/>
            </a:avLst>
          </a:prstGeom>
          <a:solidFill>
            <a:srgbClr val="FFFFFF"/>
          </a:solidFill>
          <a:ln w="12700">
            <a:solidFill>
              <a:srgbClr val="EAE6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138160" y="2103120"/>
            <a:ext cx="3520440" cy="20116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ollab_municipal.jpg"/>
          <p:cNvPicPr>
            <a:picLocks noChangeAspect="1"/>
          </p:cNvPicPr>
          <p:nvPr/>
        </p:nvPicPr>
        <p:blipFill>
          <a:blip r:embed="rId4"/>
          <a:srcRect l="2273" r="2273"/>
          <a:stretch>
            <a:fillRect/>
          </a:stretch>
        </p:blipFill>
        <p:spPr>
          <a:xfrm>
            <a:off x="8138160" y="2103120"/>
            <a:ext cx="3520440" cy="2011680"/>
          </a:xfrm>
          <a:prstGeom prst="rect">
            <a:avLst/>
          </a:prstGeom>
        </p:spPr>
      </p:pic>
      <p:sp>
        <p:nvSpPr>
          <p:cNvPr id="20" name="Rounded Rectangle 19"/>
          <p:cNvSpPr/>
          <p:nvPr/>
        </p:nvSpPr>
        <p:spPr>
          <a:xfrm>
            <a:off x="8138160" y="2103120"/>
            <a:ext cx="3520440" cy="2011680"/>
          </a:xfrm>
          <a:prstGeom prst="roundRect">
            <a:avLst>
              <a:gd name="adj" fmla="val 6000"/>
            </a:avLst>
          </a:prstGeom>
          <a:noFill/>
          <a:ln w="317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66760" y="4297680"/>
            <a:ext cx="3063240" cy="457200"/>
          </a:xfrm>
          <a:prstGeom prst="rect">
            <a:avLst/>
          </a:prstGeom>
          <a:noFill/>
        </p:spPr>
        <p:txBody>
          <a:bodyPr wrap="square" anchor="t" lIns="0" rIns="0" tIns="0" bIns="0">
            <a:spAutoFit/>
          </a:bodyPr>
          <a:lstStyle/>
          <a:p>
            <a:pPr algn="l">
              <a:lnSpc>
                <a:spcPct val="115000"/>
              </a:lnSpc>
            </a:pPr>
            <a:r>
              <a:rPr sz="1600" b="1" i="0">
                <a:solidFill>
                  <a:srgbClr val="17375E"/>
                </a:solidFill>
                <a:latin typeface="Yu Gothic"/>
              </a:rPr>
              <a:t>自治体・保護団体</a:t>
            </a:r>
          </a:p>
        </p:txBody>
      </p:sp>
      <p:sp>
        <p:nvSpPr>
          <p:cNvPr id="22" name="TextBox 21"/>
          <p:cNvSpPr txBox="1"/>
          <p:nvPr/>
        </p:nvSpPr>
        <p:spPr>
          <a:xfrm>
            <a:off x="8366760" y="4800600"/>
            <a:ext cx="3063240" cy="914400"/>
          </a:xfrm>
          <a:prstGeom prst="rect">
            <a:avLst/>
          </a:prstGeom>
          <a:noFill/>
        </p:spPr>
        <p:txBody>
          <a:bodyPr wrap="square" anchor="t" lIns="0" rIns="0" tIns="0" bIns="0">
            <a:spAutoFit/>
          </a:bodyPr>
          <a:lstStyle/>
          <a:p>
            <a:pPr algn="l">
              <a:lnSpc>
                <a:spcPct val="130000"/>
              </a:lnSpc>
            </a:pPr>
            <a:r>
              <a:rPr sz="1200" b="0" i="0">
                <a:solidFill>
                  <a:srgbClr val="767C85"/>
                </a:solidFill>
                <a:latin typeface="Yu Gothic"/>
              </a:rPr>
              <a:t>地域の防災イベントや相談会で連携する</a:t>
            </a:r>
          </a:p>
        </p:txBody>
      </p:sp>
      <p:sp>
        <p:nvSpPr>
          <p:cNvPr id="23" name="TextBox 22"/>
          <p:cNvSpPr txBox="1"/>
          <p:nvPr/>
        </p:nvSpPr>
        <p:spPr>
          <a:xfrm>
            <a:off x="457200" y="6492240"/>
            <a:ext cx="6400800" cy="274320"/>
          </a:xfrm>
          <a:prstGeom prst="rect">
            <a:avLst/>
          </a:prstGeom>
          <a:noFill/>
        </p:spPr>
        <p:txBody>
          <a:bodyPr wrap="square" anchor="t" lIns="0" rIns="0" tIns="0" bIns="0">
            <a:spAutoFit/>
          </a:bodyPr>
          <a:lstStyle/>
          <a:p>
            <a:pPr algn="l">
              <a:lnSpc>
                <a:spcPct val="115000"/>
              </a:lnSpc>
            </a:pPr>
            <a:r>
              <a:rPr sz="900" b="0" i="0">
                <a:solidFill>
                  <a:srgbClr val="767C85"/>
                </a:solidFill>
                <a:latin typeface="Yu Gothic"/>
              </a:rPr>
              <a:t>一般社団法人 ペット防災アドバイザー協会　PDPA-101</a:t>
            </a:r>
          </a:p>
        </p:txBody>
      </p:sp>
      <p:sp>
        <p:nvSpPr>
          <p:cNvPr id="24" name="TextBox 23"/>
          <p:cNvSpPr txBox="1"/>
          <p:nvPr/>
        </p:nvSpPr>
        <p:spPr>
          <a:xfrm>
            <a:off x="11521440" y="6492240"/>
            <a:ext cx="457200" cy="274320"/>
          </a:xfrm>
          <a:prstGeom prst="rect">
            <a:avLst/>
          </a:prstGeom>
          <a:noFill/>
        </p:spPr>
        <p:txBody>
          <a:bodyPr wrap="square" anchor="t" lIns="0" rIns="0" tIns="0" bIns="0">
            <a:spAutoFit/>
          </a:bodyPr>
          <a:lstStyle/>
          <a:p>
            <a:pPr algn="r">
              <a:lnSpc>
                <a:spcPct val="115000"/>
              </a:lnSpc>
            </a:pPr>
            <a:r>
              <a:rPr sz="900" b="0" i="0">
                <a:solidFill>
                  <a:srgbClr val="767C85"/>
                </a:solidFill>
                <a:latin typeface="Yu Gothic"/>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3F5F7"/>
        </a:solidFill>
        <a:effectLst/>
      </p:bgPr>
    </p:bg>
    <p:spTree>
      <p:nvGrpSpPr>
        <p:cNvPr id="1" name=""/>
        <p:cNvGrpSpPr/>
        <p:nvPr/>
      </p:nvGrpSpPr>
      <p:grpSpPr/>
      <p:sp>
        <p:nvSpPr>
          <p:cNvPr id="2" name="TextBox 1"/>
          <p:cNvSpPr txBox="1"/>
          <p:nvPr/>
        </p:nvSpPr>
        <p:spPr>
          <a:xfrm>
            <a:off x="640080" y="502920"/>
            <a:ext cx="4572000" cy="365760"/>
          </a:xfrm>
          <a:prstGeom prst="rect">
            <a:avLst/>
          </a:prstGeom>
          <a:noFill/>
        </p:spPr>
        <p:txBody>
          <a:bodyPr wrap="square" anchor="t" lIns="0" rIns="0" tIns="0" bIns="0">
            <a:spAutoFit/>
          </a:bodyPr>
          <a:lstStyle/>
          <a:p>
            <a:pPr algn="l">
              <a:lnSpc>
                <a:spcPct val="115000"/>
              </a:lnSpc>
            </a:pPr>
            <a:r>
              <a:rPr sz="1400" b="1" i="0">
                <a:solidFill>
                  <a:srgbClr val="F5A623"/>
                </a:solidFill>
                <a:latin typeface="Yu Gothic"/>
              </a:rPr>
              <a:t>SENIOR ADVISOR</a:t>
            </a:r>
          </a:p>
        </p:txBody>
      </p:sp>
      <p:sp>
        <p:nvSpPr>
          <p:cNvPr id="3" name="TextBox 2"/>
          <p:cNvSpPr txBox="1"/>
          <p:nvPr/>
        </p:nvSpPr>
        <p:spPr>
          <a:xfrm>
            <a:off x="640080" y="822960"/>
            <a:ext cx="10515600" cy="822960"/>
          </a:xfrm>
          <a:prstGeom prst="rect">
            <a:avLst/>
          </a:prstGeom>
          <a:noFill/>
        </p:spPr>
        <p:txBody>
          <a:bodyPr wrap="square" anchor="t" lIns="0" rIns="0" tIns="0" bIns="0">
            <a:spAutoFit/>
          </a:bodyPr>
          <a:lstStyle/>
          <a:p>
            <a:pPr algn="l">
              <a:lnSpc>
                <a:spcPct val="115000"/>
              </a:lnSpc>
            </a:pPr>
            <a:r>
              <a:rPr sz="3000" b="1" i="0">
                <a:solidFill>
                  <a:srgbClr val="17375E"/>
                </a:solidFill>
                <a:latin typeface="Yu Gothic"/>
              </a:rPr>
              <a:t>シニアアドバイザーの活動</a:t>
            </a:r>
          </a:p>
        </p:txBody>
      </p:sp>
      <p:sp>
        <p:nvSpPr>
          <p:cNvPr id="4" name="Rectangle 3"/>
          <p:cNvSpPr/>
          <p:nvPr/>
        </p:nvSpPr>
        <p:spPr>
          <a:xfrm>
            <a:off x="640080" y="1600200"/>
            <a:ext cx="822960" cy="3810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2194560"/>
            <a:ext cx="10881360" cy="1143000"/>
          </a:xfrm>
          <a:prstGeom prst="roundRect">
            <a:avLst>
              <a:gd name="adj" fmla="val 10000"/>
            </a:avLst>
          </a:prstGeom>
          <a:solidFill>
            <a:srgbClr val="FFFFFF"/>
          </a:solidFill>
          <a:ln w="12700">
            <a:solidFill>
              <a:srgbClr val="EAE6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60120" y="2542032"/>
            <a:ext cx="457200" cy="45720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FFFFFF"/>
                </a:solidFill>
                <a:latin typeface="Yu Gothic"/>
              </a:rPr>
              <a:t>1</a:t>
            </a:r>
          </a:p>
        </p:txBody>
      </p:sp>
      <p:sp>
        <p:nvSpPr>
          <p:cNvPr id="7" name="TextBox 6"/>
          <p:cNvSpPr txBox="1"/>
          <p:nvPr/>
        </p:nvSpPr>
        <p:spPr>
          <a:xfrm>
            <a:off x="1737360" y="2331720"/>
            <a:ext cx="9418320" cy="457200"/>
          </a:xfrm>
          <a:prstGeom prst="rect">
            <a:avLst/>
          </a:prstGeom>
          <a:noFill/>
        </p:spPr>
        <p:txBody>
          <a:bodyPr wrap="square" anchor="t" lIns="0" rIns="0" tIns="0" bIns="0">
            <a:spAutoFit/>
          </a:bodyPr>
          <a:lstStyle/>
          <a:p>
            <a:pPr algn="l">
              <a:lnSpc>
                <a:spcPct val="115000"/>
              </a:lnSpc>
            </a:pPr>
            <a:r>
              <a:rPr sz="1800" b="1" i="0">
                <a:solidFill>
                  <a:srgbClr val="17375E"/>
                </a:solidFill>
                <a:latin typeface="Yu Gothic"/>
              </a:rPr>
              <a:t>一般ペットオーナーへの啓発</a:t>
            </a:r>
          </a:p>
        </p:txBody>
      </p:sp>
      <p:sp>
        <p:nvSpPr>
          <p:cNvPr id="8" name="TextBox 7"/>
          <p:cNvSpPr txBox="1"/>
          <p:nvPr/>
        </p:nvSpPr>
        <p:spPr>
          <a:xfrm>
            <a:off x="1737360" y="2816352"/>
            <a:ext cx="9418320" cy="457200"/>
          </a:xfrm>
          <a:prstGeom prst="rect">
            <a:avLst/>
          </a:prstGeom>
          <a:noFill/>
        </p:spPr>
        <p:txBody>
          <a:bodyPr wrap="square" anchor="t" lIns="0" rIns="0" tIns="0" bIns="0">
            <a:spAutoFit/>
          </a:bodyPr>
          <a:lstStyle/>
          <a:p>
            <a:pPr algn="l">
              <a:lnSpc>
                <a:spcPct val="115000"/>
              </a:lnSpc>
            </a:pPr>
            <a:r>
              <a:rPr sz="1300" b="0" i="0">
                <a:solidFill>
                  <a:srgbClr val="767C85"/>
                </a:solidFill>
                <a:latin typeface="Yu Gothic"/>
              </a:rPr>
              <a:t>近隣のペットオーナーへの声かけや情報共有</a:t>
            </a:r>
          </a:p>
        </p:txBody>
      </p:sp>
      <p:sp>
        <p:nvSpPr>
          <p:cNvPr id="9" name="Rounded Rectangle 8"/>
          <p:cNvSpPr/>
          <p:nvPr/>
        </p:nvSpPr>
        <p:spPr>
          <a:xfrm>
            <a:off x="640080" y="3566160"/>
            <a:ext cx="10881360" cy="1143000"/>
          </a:xfrm>
          <a:prstGeom prst="roundRect">
            <a:avLst>
              <a:gd name="adj" fmla="val 10000"/>
            </a:avLst>
          </a:prstGeom>
          <a:solidFill>
            <a:srgbClr val="FFFFFF"/>
          </a:solidFill>
          <a:ln w="12700">
            <a:solidFill>
              <a:srgbClr val="EAE6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960120" y="3913632"/>
            <a:ext cx="457200" cy="45720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FFFFFF"/>
                </a:solidFill>
                <a:latin typeface="Yu Gothic"/>
              </a:rPr>
              <a:t>2</a:t>
            </a:r>
          </a:p>
        </p:txBody>
      </p:sp>
      <p:sp>
        <p:nvSpPr>
          <p:cNvPr id="11" name="TextBox 10"/>
          <p:cNvSpPr txBox="1"/>
          <p:nvPr/>
        </p:nvSpPr>
        <p:spPr>
          <a:xfrm>
            <a:off x="1737360" y="3703320"/>
            <a:ext cx="9418320" cy="457200"/>
          </a:xfrm>
          <a:prstGeom prst="rect">
            <a:avLst/>
          </a:prstGeom>
          <a:noFill/>
        </p:spPr>
        <p:txBody>
          <a:bodyPr wrap="square" anchor="t" lIns="0" rIns="0" tIns="0" bIns="0">
            <a:spAutoFit/>
          </a:bodyPr>
          <a:lstStyle/>
          <a:p>
            <a:pPr algn="l">
              <a:lnSpc>
                <a:spcPct val="115000"/>
              </a:lnSpc>
            </a:pPr>
            <a:r>
              <a:rPr sz="1800" b="1" i="0">
                <a:solidFill>
                  <a:srgbClr val="17375E"/>
                </a:solidFill>
                <a:latin typeface="Yu Gothic"/>
              </a:rPr>
              <a:t>地域イベント・防災教室</a:t>
            </a:r>
          </a:p>
        </p:txBody>
      </p:sp>
      <p:sp>
        <p:nvSpPr>
          <p:cNvPr id="12" name="TextBox 11"/>
          <p:cNvSpPr txBox="1"/>
          <p:nvPr/>
        </p:nvSpPr>
        <p:spPr>
          <a:xfrm>
            <a:off x="1737360" y="4187952"/>
            <a:ext cx="9418320" cy="457200"/>
          </a:xfrm>
          <a:prstGeom prst="rect">
            <a:avLst/>
          </a:prstGeom>
          <a:noFill/>
        </p:spPr>
        <p:txBody>
          <a:bodyPr wrap="square" anchor="t" lIns="0" rIns="0" tIns="0" bIns="0">
            <a:spAutoFit/>
          </a:bodyPr>
          <a:lstStyle/>
          <a:p>
            <a:pPr algn="l">
              <a:lnSpc>
                <a:spcPct val="115000"/>
              </a:lnSpc>
            </a:pPr>
            <a:r>
              <a:rPr sz="1300" b="0" i="0">
                <a:solidFill>
                  <a:srgbClr val="767C85"/>
                </a:solidFill>
                <a:latin typeface="Yu Gothic"/>
              </a:rPr>
              <a:t>自治会・町内会での小規模な学習会の開催</a:t>
            </a:r>
          </a:p>
        </p:txBody>
      </p:sp>
      <p:sp>
        <p:nvSpPr>
          <p:cNvPr id="13" name="Rounded Rectangle 12"/>
          <p:cNvSpPr/>
          <p:nvPr/>
        </p:nvSpPr>
        <p:spPr>
          <a:xfrm>
            <a:off x="640080" y="4937760"/>
            <a:ext cx="10881360" cy="1143000"/>
          </a:xfrm>
          <a:prstGeom prst="roundRect">
            <a:avLst>
              <a:gd name="adj" fmla="val 10000"/>
            </a:avLst>
          </a:prstGeom>
          <a:solidFill>
            <a:srgbClr val="FFFFFF"/>
          </a:solidFill>
          <a:ln w="12700">
            <a:solidFill>
              <a:srgbClr val="EAE6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0120" y="5285232"/>
            <a:ext cx="457200" cy="45720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FFFFFF"/>
                </a:solidFill>
                <a:latin typeface="Yu Gothic"/>
              </a:rPr>
              <a:t>3</a:t>
            </a:r>
          </a:p>
        </p:txBody>
      </p:sp>
      <p:sp>
        <p:nvSpPr>
          <p:cNvPr id="15" name="TextBox 14"/>
          <p:cNvSpPr txBox="1"/>
          <p:nvPr/>
        </p:nvSpPr>
        <p:spPr>
          <a:xfrm>
            <a:off x="1737360" y="5074920"/>
            <a:ext cx="9418320" cy="457200"/>
          </a:xfrm>
          <a:prstGeom prst="rect">
            <a:avLst/>
          </a:prstGeom>
          <a:noFill/>
        </p:spPr>
        <p:txBody>
          <a:bodyPr wrap="square" anchor="t" lIns="0" rIns="0" tIns="0" bIns="0">
            <a:spAutoFit/>
          </a:bodyPr>
          <a:lstStyle/>
          <a:p>
            <a:pPr algn="l">
              <a:lnSpc>
                <a:spcPct val="115000"/>
              </a:lnSpc>
            </a:pPr>
            <a:r>
              <a:rPr sz="1800" b="1" i="0">
                <a:solidFill>
                  <a:srgbClr val="17375E"/>
                </a:solidFill>
                <a:latin typeface="Yu Gothic"/>
              </a:rPr>
              <a:t>個別相談</a:t>
            </a:r>
          </a:p>
        </p:txBody>
      </p:sp>
      <p:sp>
        <p:nvSpPr>
          <p:cNvPr id="16" name="TextBox 15"/>
          <p:cNvSpPr txBox="1"/>
          <p:nvPr/>
        </p:nvSpPr>
        <p:spPr>
          <a:xfrm>
            <a:off x="1737360" y="5559552"/>
            <a:ext cx="9418320" cy="457200"/>
          </a:xfrm>
          <a:prstGeom prst="rect">
            <a:avLst/>
          </a:prstGeom>
          <a:noFill/>
        </p:spPr>
        <p:txBody>
          <a:bodyPr wrap="square" anchor="t" lIns="0" rIns="0" tIns="0" bIns="0">
            <a:spAutoFit/>
          </a:bodyPr>
          <a:lstStyle/>
          <a:p>
            <a:pPr algn="l">
              <a:lnSpc>
                <a:spcPct val="115000"/>
              </a:lnSpc>
            </a:pPr>
            <a:r>
              <a:rPr sz="1300" b="0" i="0">
                <a:solidFill>
                  <a:srgbClr val="767C85"/>
                </a:solidFill>
                <a:latin typeface="Yu Gothic"/>
              </a:rPr>
              <a:t>個々の家庭状況に応じた備えのアドバイス</a:t>
            </a:r>
          </a:p>
        </p:txBody>
      </p:sp>
      <p:sp>
        <p:nvSpPr>
          <p:cNvPr id="17" name="TextBox 16"/>
          <p:cNvSpPr txBox="1"/>
          <p:nvPr/>
        </p:nvSpPr>
        <p:spPr>
          <a:xfrm>
            <a:off x="457200" y="6492240"/>
            <a:ext cx="6400800" cy="274320"/>
          </a:xfrm>
          <a:prstGeom prst="rect">
            <a:avLst/>
          </a:prstGeom>
          <a:noFill/>
        </p:spPr>
        <p:txBody>
          <a:bodyPr wrap="square" anchor="t" lIns="0" rIns="0" tIns="0" bIns="0">
            <a:spAutoFit/>
          </a:bodyPr>
          <a:lstStyle/>
          <a:p>
            <a:pPr algn="l">
              <a:lnSpc>
                <a:spcPct val="115000"/>
              </a:lnSpc>
            </a:pPr>
            <a:r>
              <a:rPr sz="900" b="0" i="0">
                <a:solidFill>
                  <a:srgbClr val="767C85"/>
                </a:solidFill>
                <a:latin typeface="Yu Gothic"/>
              </a:rPr>
              <a:t>一般社団法人 ペット防災アドバイザー協会　PDPA-101</a:t>
            </a:r>
          </a:p>
        </p:txBody>
      </p:sp>
      <p:sp>
        <p:nvSpPr>
          <p:cNvPr id="18" name="TextBox 17"/>
          <p:cNvSpPr txBox="1"/>
          <p:nvPr/>
        </p:nvSpPr>
        <p:spPr>
          <a:xfrm>
            <a:off x="11521440" y="6492240"/>
            <a:ext cx="457200" cy="274320"/>
          </a:xfrm>
          <a:prstGeom prst="rect">
            <a:avLst/>
          </a:prstGeom>
          <a:noFill/>
        </p:spPr>
        <p:txBody>
          <a:bodyPr wrap="square" anchor="t" lIns="0" rIns="0" tIns="0" bIns="0">
            <a:spAutoFit/>
          </a:bodyPr>
          <a:lstStyle/>
          <a:p>
            <a:pPr algn="r">
              <a:lnSpc>
                <a:spcPct val="115000"/>
              </a:lnSpc>
            </a:pPr>
            <a:r>
              <a:rPr sz="900" b="0" i="0">
                <a:solidFill>
                  <a:srgbClr val="767C85"/>
                </a:solidFill>
                <a:latin typeface="Yu Gothic"/>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3F5F7"/>
        </a:solidFill>
        <a:effectLst/>
      </p:bgPr>
    </p:bg>
    <p:spTree>
      <p:nvGrpSpPr>
        <p:cNvPr id="1" name=""/>
        <p:cNvGrpSpPr/>
        <p:nvPr/>
      </p:nvGrpSpPr>
      <p:grpSpPr/>
      <p:sp>
        <p:nvSpPr>
          <p:cNvPr id="2" name="TextBox 1"/>
          <p:cNvSpPr txBox="1"/>
          <p:nvPr/>
        </p:nvSpPr>
        <p:spPr>
          <a:xfrm>
            <a:off x="640080" y="502920"/>
            <a:ext cx="4572000" cy="365760"/>
          </a:xfrm>
          <a:prstGeom prst="rect">
            <a:avLst/>
          </a:prstGeom>
          <a:noFill/>
        </p:spPr>
        <p:txBody>
          <a:bodyPr wrap="square" anchor="t" lIns="0" rIns="0" tIns="0" bIns="0">
            <a:spAutoFit/>
          </a:bodyPr>
          <a:lstStyle/>
          <a:p>
            <a:pPr algn="l">
              <a:lnSpc>
                <a:spcPct val="115000"/>
              </a:lnSpc>
            </a:pPr>
            <a:r>
              <a:rPr sz="1400" b="1" i="0">
                <a:solidFill>
                  <a:srgbClr val="F5A623"/>
                </a:solidFill>
                <a:latin typeface="Yu Gothic"/>
              </a:rPr>
              <a:t>PET PROFESSIONALS</a:t>
            </a:r>
          </a:p>
        </p:txBody>
      </p:sp>
      <p:sp>
        <p:nvSpPr>
          <p:cNvPr id="3" name="TextBox 2"/>
          <p:cNvSpPr txBox="1"/>
          <p:nvPr/>
        </p:nvSpPr>
        <p:spPr>
          <a:xfrm>
            <a:off x="640080" y="822960"/>
            <a:ext cx="10515600" cy="822960"/>
          </a:xfrm>
          <a:prstGeom prst="rect">
            <a:avLst/>
          </a:prstGeom>
          <a:noFill/>
        </p:spPr>
        <p:txBody>
          <a:bodyPr wrap="square" anchor="t" lIns="0" rIns="0" tIns="0" bIns="0">
            <a:spAutoFit/>
          </a:bodyPr>
          <a:lstStyle/>
          <a:p>
            <a:pPr algn="l">
              <a:lnSpc>
                <a:spcPct val="115000"/>
              </a:lnSpc>
            </a:pPr>
            <a:r>
              <a:rPr sz="3000" b="1" i="0">
                <a:solidFill>
                  <a:srgbClr val="17375E"/>
                </a:solidFill>
                <a:latin typeface="Yu Gothic"/>
              </a:rPr>
              <a:t>ペット関連従事者の活動</a:t>
            </a:r>
          </a:p>
        </p:txBody>
      </p:sp>
      <p:sp>
        <p:nvSpPr>
          <p:cNvPr id="4" name="Rectangle 3"/>
          <p:cNvSpPr/>
          <p:nvPr/>
        </p:nvSpPr>
        <p:spPr>
          <a:xfrm>
            <a:off x="640080" y="1600200"/>
            <a:ext cx="822960" cy="3810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22960" y="2286000"/>
            <a:ext cx="457200" cy="457200"/>
          </a:xfrm>
          <a:prstGeom prst="ellipse">
            <a:avLst/>
          </a:prstGeom>
          <a:solidFill>
            <a:srgbClr val="D988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FFFFFF"/>
                </a:solidFill>
                <a:latin typeface="Yu Gothic"/>
              </a:rPr>
              <a:t>1</a:t>
            </a:r>
          </a:p>
        </p:txBody>
      </p:sp>
      <p:sp>
        <p:nvSpPr>
          <p:cNvPr id="6" name="TextBox 5"/>
          <p:cNvSpPr txBox="1"/>
          <p:nvPr/>
        </p:nvSpPr>
        <p:spPr>
          <a:xfrm>
            <a:off x="1554480" y="2240280"/>
            <a:ext cx="9601200" cy="640080"/>
          </a:xfrm>
          <a:prstGeom prst="rect">
            <a:avLst/>
          </a:prstGeom>
          <a:noFill/>
        </p:spPr>
        <p:txBody>
          <a:bodyPr wrap="square" anchor="ctr" lIns="0" rIns="0" tIns="0" bIns="0">
            <a:spAutoFit/>
          </a:bodyPr>
          <a:lstStyle/>
          <a:p>
            <a:pPr algn="l">
              <a:lnSpc>
                <a:spcPct val="115000"/>
              </a:lnSpc>
            </a:pPr>
            <a:r>
              <a:rPr sz="1900" b="1" i="0">
                <a:solidFill>
                  <a:srgbClr val="1F2937"/>
                </a:solidFill>
                <a:latin typeface="Yu Gothic"/>
              </a:rPr>
              <a:t>自身の専門分野を核に活動する</a:t>
            </a:r>
          </a:p>
        </p:txBody>
      </p:sp>
      <p:sp>
        <p:nvSpPr>
          <p:cNvPr id="7" name="Oval 6"/>
          <p:cNvSpPr/>
          <p:nvPr/>
        </p:nvSpPr>
        <p:spPr>
          <a:xfrm>
            <a:off x="822960" y="3337560"/>
            <a:ext cx="457200" cy="457200"/>
          </a:xfrm>
          <a:prstGeom prst="ellipse">
            <a:avLst/>
          </a:prstGeom>
          <a:solidFill>
            <a:srgbClr val="D988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FFFFFF"/>
                </a:solidFill>
                <a:latin typeface="Yu Gothic"/>
              </a:rPr>
              <a:t>2</a:t>
            </a:r>
          </a:p>
        </p:txBody>
      </p:sp>
      <p:sp>
        <p:nvSpPr>
          <p:cNvPr id="8" name="TextBox 7"/>
          <p:cNvSpPr txBox="1"/>
          <p:nvPr/>
        </p:nvSpPr>
        <p:spPr>
          <a:xfrm>
            <a:off x="1554480" y="3291840"/>
            <a:ext cx="9601200" cy="640080"/>
          </a:xfrm>
          <a:prstGeom prst="rect">
            <a:avLst/>
          </a:prstGeom>
          <a:noFill/>
        </p:spPr>
        <p:txBody>
          <a:bodyPr wrap="square" anchor="ctr" lIns="0" rIns="0" tIns="0" bIns="0">
            <a:spAutoFit/>
          </a:bodyPr>
          <a:lstStyle/>
          <a:p>
            <a:pPr algn="l">
              <a:lnSpc>
                <a:spcPct val="115000"/>
              </a:lnSpc>
            </a:pPr>
            <a:r>
              <a:rPr sz="1900" b="1" i="0">
                <a:solidFill>
                  <a:srgbClr val="1F2937"/>
                </a:solidFill>
                <a:latin typeface="Yu Gothic"/>
              </a:rPr>
              <a:t>知り合いや関係業者（動物病院・ペットショップ等）と連携する</a:t>
            </a:r>
          </a:p>
        </p:txBody>
      </p:sp>
      <p:sp>
        <p:nvSpPr>
          <p:cNvPr id="9" name="Oval 8"/>
          <p:cNvSpPr/>
          <p:nvPr/>
        </p:nvSpPr>
        <p:spPr>
          <a:xfrm>
            <a:off x="822960" y="4389120"/>
            <a:ext cx="457200" cy="457200"/>
          </a:xfrm>
          <a:prstGeom prst="ellipse">
            <a:avLst/>
          </a:prstGeom>
          <a:solidFill>
            <a:srgbClr val="D988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FFFFFF"/>
                </a:solidFill>
                <a:latin typeface="Yu Gothic"/>
              </a:rPr>
              <a:t>3</a:t>
            </a:r>
          </a:p>
        </p:txBody>
      </p:sp>
      <p:sp>
        <p:nvSpPr>
          <p:cNvPr id="10" name="TextBox 9"/>
          <p:cNvSpPr txBox="1"/>
          <p:nvPr/>
        </p:nvSpPr>
        <p:spPr>
          <a:xfrm>
            <a:off x="1554480" y="4343400"/>
            <a:ext cx="9601200" cy="640080"/>
          </a:xfrm>
          <a:prstGeom prst="rect">
            <a:avLst/>
          </a:prstGeom>
          <a:noFill/>
        </p:spPr>
        <p:txBody>
          <a:bodyPr wrap="square" anchor="ctr" lIns="0" rIns="0" tIns="0" bIns="0">
            <a:spAutoFit/>
          </a:bodyPr>
          <a:lstStyle/>
          <a:p>
            <a:pPr algn="l">
              <a:lnSpc>
                <a:spcPct val="115000"/>
              </a:lnSpc>
            </a:pPr>
            <a:r>
              <a:rPr sz="1900" b="1" i="0">
                <a:solidFill>
                  <a:srgbClr val="1F2937"/>
                </a:solidFill>
                <a:latin typeface="Yu Gothic"/>
              </a:rPr>
              <a:t>より多くの飼い主へ、防災の重要性を伝えていく</a:t>
            </a:r>
          </a:p>
        </p:txBody>
      </p:sp>
      <p:sp>
        <p:nvSpPr>
          <p:cNvPr id="11" name="TextBox 10"/>
          <p:cNvSpPr txBox="1"/>
          <p:nvPr/>
        </p:nvSpPr>
        <p:spPr>
          <a:xfrm>
            <a:off x="457200" y="6492240"/>
            <a:ext cx="6400800" cy="274320"/>
          </a:xfrm>
          <a:prstGeom prst="rect">
            <a:avLst/>
          </a:prstGeom>
          <a:noFill/>
        </p:spPr>
        <p:txBody>
          <a:bodyPr wrap="square" anchor="t" lIns="0" rIns="0" tIns="0" bIns="0">
            <a:spAutoFit/>
          </a:bodyPr>
          <a:lstStyle/>
          <a:p>
            <a:pPr algn="l">
              <a:lnSpc>
                <a:spcPct val="115000"/>
              </a:lnSpc>
            </a:pPr>
            <a:r>
              <a:rPr sz="900" b="0" i="0">
                <a:solidFill>
                  <a:srgbClr val="767C85"/>
                </a:solidFill>
                <a:latin typeface="Yu Gothic"/>
              </a:rPr>
              <a:t>一般社団法人 ペット防災アドバイザー協会　PDPA-101</a:t>
            </a:r>
          </a:p>
        </p:txBody>
      </p:sp>
      <p:sp>
        <p:nvSpPr>
          <p:cNvPr id="12" name="TextBox 11"/>
          <p:cNvSpPr txBox="1"/>
          <p:nvPr/>
        </p:nvSpPr>
        <p:spPr>
          <a:xfrm>
            <a:off x="11521440" y="6492240"/>
            <a:ext cx="457200" cy="274320"/>
          </a:xfrm>
          <a:prstGeom prst="rect">
            <a:avLst/>
          </a:prstGeom>
          <a:noFill/>
        </p:spPr>
        <p:txBody>
          <a:bodyPr wrap="square" anchor="t" lIns="0" rIns="0" tIns="0" bIns="0">
            <a:spAutoFit/>
          </a:bodyPr>
          <a:lstStyle/>
          <a:p>
            <a:pPr algn="r">
              <a:lnSpc>
                <a:spcPct val="115000"/>
              </a:lnSpc>
            </a:pPr>
            <a:r>
              <a:rPr sz="900" b="0" i="0">
                <a:solidFill>
                  <a:srgbClr val="767C85"/>
                </a:solidFill>
                <a:latin typeface="Yu Gothic"/>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7375E"/>
        </a:solidFill>
        <a:effectLst/>
      </p:bgPr>
    </p:bg>
    <p:spTree>
      <p:nvGrpSpPr>
        <p:cNvPr id="1" name=""/>
        <p:cNvGrpSpPr/>
        <p:nvPr/>
      </p:nvGrpSpPr>
      <p:grpSpPr/>
      <p:sp>
        <p:nvSpPr>
          <p:cNvPr id="2" name="TextBox 1"/>
          <p:cNvSpPr txBox="1"/>
          <p:nvPr/>
        </p:nvSpPr>
        <p:spPr>
          <a:xfrm>
            <a:off x="640080" y="502920"/>
            <a:ext cx="4572000" cy="365760"/>
          </a:xfrm>
          <a:prstGeom prst="rect">
            <a:avLst/>
          </a:prstGeom>
          <a:noFill/>
        </p:spPr>
        <p:txBody>
          <a:bodyPr wrap="square" anchor="t" lIns="0" rIns="0" tIns="0" bIns="0">
            <a:spAutoFit/>
          </a:bodyPr>
          <a:lstStyle/>
          <a:p>
            <a:pPr algn="l">
              <a:lnSpc>
                <a:spcPct val="115000"/>
              </a:lnSpc>
            </a:pPr>
            <a:r>
              <a:rPr sz="1400" b="1" i="0">
                <a:solidFill>
                  <a:srgbClr val="F5A623"/>
                </a:solidFill>
                <a:latin typeface="Yu Gothic"/>
              </a:rPr>
              <a:t>CERTIFICATION</a:t>
            </a:r>
          </a:p>
        </p:txBody>
      </p:sp>
      <p:sp>
        <p:nvSpPr>
          <p:cNvPr id="3" name="TextBox 2"/>
          <p:cNvSpPr txBox="1"/>
          <p:nvPr/>
        </p:nvSpPr>
        <p:spPr>
          <a:xfrm>
            <a:off x="640080" y="822960"/>
            <a:ext cx="10515600" cy="822960"/>
          </a:xfrm>
          <a:prstGeom prst="rect">
            <a:avLst/>
          </a:prstGeom>
          <a:noFill/>
        </p:spPr>
        <p:txBody>
          <a:bodyPr wrap="square" anchor="t" lIns="0" rIns="0" tIns="0" bIns="0">
            <a:spAutoFit/>
          </a:bodyPr>
          <a:lstStyle/>
          <a:p>
            <a:pPr algn="l">
              <a:lnSpc>
                <a:spcPct val="115000"/>
              </a:lnSpc>
            </a:pPr>
            <a:r>
              <a:rPr sz="3000" b="1" i="0">
                <a:solidFill>
                  <a:srgbClr val="FFFFFF"/>
                </a:solidFill>
                <a:latin typeface="Yu Gothic"/>
              </a:rPr>
              <a:t>認定制度の全体像</a:t>
            </a:r>
          </a:p>
        </p:txBody>
      </p:sp>
      <p:sp>
        <p:nvSpPr>
          <p:cNvPr id="4" name="Rectangle 3"/>
          <p:cNvSpPr/>
          <p:nvPr/>
        </p:nvSpPr>
        <p:spPr>
          <a:xfrm>
            <a:off x="640080" y="1600200"/>
            <a:ext cx="822960" cy="3810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2103120"/>
            <a:ext cx="3657600" cy="457200"/>
          </a:xfrm>
          <a:prstGeom prst="rect">
            <a:avLst/>
          </a:prstGeom>
          <a:noFill/>
        </p:spPr>
        <p:txBody>
          <a:bodyPr wrap="square" anchor="t" lIns="0" rIns="0" tIns="0" bIns="0">
            <a:spAutoFit/>
          </a:bodyPr>
          <a:lstStyle/>
          <a:p>
            <a:pPr algn="l">
              <a:lnSpc>
                <a:spcPct val="115000"/>
              </a:lnSpc>
            </a:pPr>
            <a:r>
              <a:rPr sz="2000" b="0" i="0">
                <a:solidFill>
                  <a:srgbClr val="C7CDD6"/>
                </a:solidFill>
                <a:latin typeface="Yu Gothic"/>
              </a:rPr>
              <a:t>2段階</a:t>
            </a:r>
          </a:p>
        </p:txBody>
      </p:sp>
      <p:sp>
        <p:nvSpPr>
          <p:cNvPr id="6" name="Rounded Rectangle 5"/>
          <p:cNvSpPr/>
          <p:nvPr/>
        </p:nvSpPr>
        <p:spPr>
          <a:xfrm>
            <a:off x="914400" y="2926080"/>
            <a:ext cx="3840480" cy="1188720"/>
          </a:xfrm>
          <a:prstGeom prst="roundRect">
            <a:avLst>
              <a:gd name="adj" fmla="val 15000"/>
            </a:avLst>
          </a:prstGeom>
          <a:solidFill>
            <a:srgbClr val="22456A"/>
          </a:solidFill>
          <a:ln w="12700">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926080"/>
            <a:ext cx="3840480" cy="1188720"/>
          </a:xfrm>
          <a:prstGeom prst="rect">
            <a:avLst/>
          </a:prstGeom>
          <a:noFill/>
        </p:spPr>
        <p:txBody>
          <a:bodyPr wrap="square" anchor="ctr" lIns="0" rIns="0" tIns="0" bIns="0">
            <a:spAutoFit/>
          </a:bodyPr>
          <a:lstStyle/>
          <a:p>
            <a:pPr algn="ctr">
              <a:lnSpc>
                <a:spcPct val="115000"/>
              </a:lnSpc>
            </a:pPr>
            <a:r>
              <a:rPr sz="1800" b="1" i="0">
                <a:solidFill>
                  <a:srgbClr val="FFFFFF"/>
                </a:solidFill>
                <a:latin typeface="Yu Gothic"/>
              </a:rPr>
              <a:t>認定ペット防災アドバイザー</a:t>
            </a:r>
          </a:p>
        </p:txBody>
      </p:sp>
      <p:sp>
        <p:nvSpPr>
          <p:cNvPr id="8" name="Right Arrow 7"/>
          <p:cNvSpPr/>
          <p:nvPr/>
        </p:nvSpPr>
        <p:spPr>
          <a:xfrm>
            <a:off x="4892040" y="3291840"/>
            <a:ext cx="914400" cy="457200"/>
          </a:xfrm>
          <a:prstGeom prst="rightArrow">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943600" y="2926080"/>
            <a:ext cx="3840480" cy="1188720"/>
          </a:xfrm>
          <a:prstGeom prst="roundRect">
            <a:avLst>
              <a:gd name="adj" fmla="val 15000"/>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0" y="2926080"/>
            <a:ext cx="3840480" cy="1188720"/>
          </a:xfrm>
          <a:prstGeom prst="rect">
            <a:avLst/>
          </a:prstGeom>
          <a:noFill/>
        </p:spPr>
        <p:txBody>
          <a:bodyPr wrap="square" anchor="ctr" lIns="0" rIns="0" tIns="0" bIns="0">
            <a:spAutoFit/>
          </a:bodyPr>
          <a:lstStyle/>
          <a:p>
            <a:pPr algn="ctr">
              <a:lnSpc>
                <a:spcPct val="115000"/>
              </a:lnSpc>
            </a:pPr>
            <a:r>
              <a:rPr sz="1800" b="1" i="0">
                <a:solidFill>
                  <a:srgbClr val="17375E"/>
                </a:solidFill>
                <a:latin typeface="Yu Gothic"/>
              </a:rPr>
              <a:t>認定講師</a:t>
            </a:r>
          </a:p>
        </p:txBody>
      </p:sp>
      <p:sp>
        <p:nvSpPr>
          <p:cNvPr id="11" name="TextBox 10"/>
          <p:cNvSpPr txBox="1"/>
          <p:nvPr/>
        </p:nvSpPr>
        <p:spPr>
          <a:xfrm>
            <a:off x="914400" y="4663440"/>
            <a:ext cx="8869680" cy="731520"/>
          </a:xfrm>
          <a:prstGeom prst="rect">
            <a:avLst/>
          </a:prstGeom>
          <a:noFill/>
        </p:spPr>
        <p:txBody>
          <a:bodyPr wrap="square" anchor="t" lIns="0" rIns="0" tIns="0" bIns="0">
            <a:spAutoFit/>
          </a:bodyPr>
          <a:lstStyle/>
          <a:p>
            <a:pPr algn="l">
              <a:lnSpc>
                <a:spcPct val="140000"/>
              </a:lnSpc>
            </a:pPr>
            <a:r>
              <a:rPr sz="1400" b="0" i="0">
                <a:solidFill>
                  <a:srgbClr val="C7CDD6"/>
                </a:solidFill>
                <a:latin typeface="Yu Gothic"/>
              </a:rPr>
              <a:t>認定講師は、認定取得後1年以上の活動実績をもとに受験資格が付与される</a:t>
            </a:r>
          </a:p>
        </p:txBody>
      </p:sp>
      <p:sp>
        <p:nvSpPr>
          <p:cNvPr id="12" name="TextBox 11"/>
          <p:cNvSpPr txBox="1"/>
          <p:nvPr/>
        </p:nvSpPr>
        <p:spPr>
          <a:xfrm>
            <a:off x="457200" y="6492240"/>
            <a:ext cx="6400800" cy="274320"/>
          </a:xfrm>
          <a:prstGeom prst="rect">
            <a:avLst/>
          </a:prstGeom>
          <a:noFill/>
        </p:spPr>
        <p:txBody>
          <a:bodyPr wrap="square" anchor="t" lIns="0" rIns="0" tIns="0" bIns="0">
            <a:spAutoFit/>
          </a:bodyPr>
          <a:lstStyle/>
          <a:p>
            <a:pPr algn="l">
              <a:lnSpc>
                <a:spcPct val="115000"/>
              </a:lnSpc>
            </a:pPr>
            <a:r>
              <a:rPr sz="900" b="0" i="0">
                <a:solidFill>
                  <a:srgbClr val="C7CDD6"/>
                </a:solidFill>
                <a:latin typeface="Yu Gothic"/>
              </a:rPr>
              <a:t>一般社団法人 ペット防災アドバイザー協会　PDPA-101</a:t>
            </a:r>
          </a:p>
        </p:txBody>
      </p:sp>
      <p:sp>
        <p:nvSpPr>
          <p:cNvPr id="13" name="TextBox 12"/>
          <p:cNvSpPr txBox="1"/>
          <p:nvPr/>
        </p:nvSpPr>
        <p:spPr>
          <a:xfrm>
            <a:off x="11521440" y="6492240"/>
            <a:ext cx="457200" cy="274320"/>
          </a:xfrm>
          <a:prstGeom prst="rect">
            <a:avLst/>
          </a:prstGeom>
          <a:noFill/>
        </p:spPr>
        <p:txBody>
          <a:bodyPr wrap="square" anchor="t" lIns="0" rIns="0" tIns="0" bIns="0">
            <a:spAutoFit/>
          </a:bodyPr>
          <a:lstStyle/>
          <a:p>
            <a:pPr algn="r">
              <a:lnSpc>
                <a:spcPct val="115000"/>
              </a:lnSpc>
            </a:pPr>
            <a:r>
              <a:rPr sz="900" b="0" i="0">
                <a:solidFill>
                  <a:srgbClr val="C7CDD6"/>
                </a:solidFill>
                <a:latin typeface="Yu Gothic"/>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7375E"/>
        </a:solidFill>
        <a:effectLst/>
      </p:bgPr>
    </p:bg>
    <p:spTree>
      <p:nvGrpSpPr>
        <p:cNvPr id="1" name=""/>
        <p:cNvGrpSpPr/>
        <p:nvPr/>
      </p:nvGrpSpPr>
      <p:grpSpPr/>
      <p:pic>
        <p:nvPicPr>
          <p:cNvPr id="2" name="Picture 1" descr="case_study_night.jpg"/>
          <p:cNvPicPr>
            <a:picLocks noChangeAspect="1"/>
          </p:cNvPicPr>
          <p:nvPr/>
        </p:nvPicPr>
        <p:blipFill>
          <a:blip r:embed="rId2"/>
          <a:srcRect l="1516" r="1516"/>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17375E">
              <a:alpha val="6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0" y="822960"/>
            <a:ext cx="12191695" cy="457200"/>
          </a:xfrm>
          <a:prstGeom prst="rect">
            <a:avLst/>
          </a:prstGeom>
          <a:noFill/>
        </p:spPr>
        <p:txBody>
          <a:bodyPr wrap="square" anchor="t" lIns="0" rIns="0" tIns="0" bIns="0">
            <a:spAutoFit/>
          </a:bodyPr>
          <a:lstStyle/>
          <a:p>
            <a:pPr algn="ctr">
              <a:lnSpc>
                <a:spcPct val="115000"/>
              </a:lnSpc>
            </a:pPr>
            <a:r>
              <a:rPr sz="1800" b="1" i="0">
                <a:solidFill>
                  <a:srgbClr val="F5A623"/>
                </a:solidFill>
                <a:latin typeface="Yu Gothic"/>
              </a:rPr>
              <a:t>ケーススタディ　①</a:t>
            </a:r>
          </a:p>
        </p:txBody>
      </p:sp>
      <p:sp>
        <p:nvSpPr>
          <p:cNvPr id="5" name="TextBox 4"/>
          <p:cNvSpPr txBox="1"/>
          <p:nvPr/>
        </p:nvSpPr>
        <p:spPr>
          <a:xfrm>
            <a:off x="0" y="1280160"/>
            <a:ext cx="12191695" cy="822960"/>
          </a:xfrm>
          <a:prstGeom prst="rect">
            <a:avLst/>
          </a:prstGeom>
          <a:noFill/>
        </p:spPr>
        <p:txBody>
          <a:bodyPr wrap="square" anchor="t" lIns="0" rIns="0" tIns="0" bIns="0">
            <a:spAutoFit/>
          </a:bodyPr>
          <a:lstStyle/>
          <a:p>
            <a:pPr algn="ctr">
              <a:lnSpc>
                <a:spcPct val="115000"/>
              </a:lnSpc>
            </a:pPr>
            <a:r>
              <a:rPr sz="3600" b="1" i="0">
                <a:solidFill>
                  <a:srgbClr val="FFFFFF"/>
                </a:solidFill>
                <a:latin typeface="Yu Gothic"/>
              </a:rPr>
              <a:t>深夜の地震</a:t>
            </a:r>
          </a:p>
        </p:txBody>
      </p:sp>
      <p:sp>
        <p:nvSpPr>
          <p:cNvPr id="6" name="Rounded Rectangle 5"/>
          <p:cNvSpPr/>
          <p:nvPr/>
        </p:nvSpPr>
        <p:spPr>
          <a:xfrm>
            <a:off x="1965960" y="2468880"/>
            <a:ext cx="8229600" cy="2377440"/>
          </a:xfrm>
          <a:prstGeom prst="roundRect">
            <a:avLst>
              <a:gd name="adj" fmla="val 6000"/>
            </a:avLst>
          </a:prstGeom>
          <a:solidFill>
            <a:srgbClr val="1737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331720" y="2743200"/>
            <a:ext cx="7498079" cy="1828800"/>
          </a:xfrm>
          <a:prstGeom prst="rect">
            <a:avLst/>
          </a:prstGeom>
          <a:noFill/>
        </p:spPr>
        <p:txBody>
          <a:bodyPr wrap="square" anchor="ctr" lIns="0" rIns="0" tIns="0" bIns="0">
            <a:spAutoFit/>
          </a:bodyPr>
          <a:lstStyle/>
          <a:p>
            <a:pPr algn="ctr">
              <a:lnSpc>
                <a:spcPct val="150000"/>
              </a:lnSpc>
            </a:pPr>
            <a:r>
              <a:rPr sz="2000" b="0" i="0">
                <a:solidFill>
                  <a:srgbClr val="FFFFFF"/>
                </a:solidFill>
                <a:latin typeface="Yu Gothic"/>
              </a:rPr>
              <a:t>深夜2時、震度6強の地震が発生。</a:t>
            </a:r>
          </a:p>
          <a:p>
            <a:pPr algn="ctr">
              <a:lnSpc>
                <a:spcPct val="150000"/>
              </a:lnSpc>
            </a:pPr>
            <a:r>
              <a:rPr sz="2000" b="0" i="0">
                <a:solidFill>
                  <a:srgbClr val="FFFFFF"/>
                </a:solidFill>
                <a:latin typeface="Yu Gothic"/>
              </a:rPr>
              <a:t>犬はパニックで吠え続け、猫は押し入れに隠れています。</a:t>
            </a:r>
          </a:p>
          <a:p>
            <a:pPr algn="ctr">
              <a:lnSpc>
                <a:spcPct val="150000"/>
              </a:lnSpc>
            </a:pPr>
            <a:r>
              <a:rPr sz="2000" b="0" i="0">
                <a:solidFill>
                  <a:srgbClr val="FFFFFF"/>
                </a:solidFill>
                <a:latin typeface="Yu Gothic"/>
              </a:rPr>
              <a:t/>
            </a:r>
          </a:p>
          <a:p>
            <a:pPr algn="ctr">
              <a:lnSpc>
                <a:spcPct val="150000"/>
              </a:lnSpc>
            </a:pPr>
            <a:r>
              <a:rPr sz="2000" b="0" i="0">
                <a:solidFill>
                  <a:srgbClr val="FFFFFF"/>
                </a:solidFill>
                <a:latin typeface="Yu Gothic"/>
              </a:rPr>
              <a:t>あなたは最初に何をしますか？</a:t>
            </a:r>
          </a:p>
        </p:txBody>
      </p:sp>
      <p:sp>
        <p:nvSpPr>
          <p:cNvPr id="8" name="TextBox 7"/>
          <p:cNvSpPr txBox="1"/>
          <p:nvPr/>
        </p:nvSpPr>
        <p:spPr>
          <a:xfrm>
            <a:off x="1371600" y="5577840"/>
            <a:ext cx="9418320" cy="457200"/>
          </a:xfrm>
          <a:prstGeom prst="rect">
            <a:avLst/>
          </a:prstGeom>
          <a:noFill/>
        </p:spPr>
        <p:txBody>
          <a:bodyPr wrap="square" anchor="t" lIns="0" rIns="0" tIns="0" bIns="0">
            <a:spAutoFit/>
          </a:bodyPr>
          <a:lstStyle/>
          <a:p>
            <a:pPr algn="ctr">
              <a:lnSpc>
                <a:spcPct val="115000"/>
              </a:lnSpc>
            </a:pPr>
            <a:r>
              <a:rPr sz="1100" b="0" i="1">
                <a:solidFill>
                  <a:srgbClr val="C7CDD6"/>
                </a:solidFill>
                <a:latin typeface="Yu Gothic"/>
              </a:rPr>
              <a:t>あなたならどうしますか？（受講者に考えてもらう／正解を一つに決めず複数の視点を共有する）</a:t>
            </a:r>
          </a:p>
        </p:txBody>
      </p:sp>
      <p:sp>
        <p:nvSpPr>
          <p:cNvPr id="9" name="TextBox 8"/>
          <p:cNvSpPr txBox="1"/>
          <p:nvPr/>
        </p:nvSpPr>
        <p:spPr>
          <a:xfrm>
            <a:off x="457200" y="6492240"/>
            <a:ext cx="6400800" cy="274320"/>
          </a:xfrm>
          <a:prstGeom prst="rect">
            <a:avLst/>
          </a:prstGeom>
          <a:noFill/>
        </p:spPr>
        <p:txBody>
          <a:bodyPr wrap="square" anchor="t" lIns="0" rIns="0" tIns="0" bIns="0">
            <a:spAutoFit/>
          </a:bodyPr>
          <a:lstStyle/>
          <a:p>
            <a:pPr algn="l">
              <a:lnSpc>
                <a:spcPct val="115000"/>
              </a:lnSpc>
            </a:pPr>
            <a:r>
              <a:rPr sz="900" b="0" i="0">
                <a:solidFill>
                  <a:srgbClr val="C7CDD6"/>
                </a:solidFill>
                <a:latin typeface="Yu Gothic"/>
              </a:rPr>
              <a:t>一般社団法人 ペット防災アドバイザー協会　PDPA-101</a:t>
            </a:r>
          </a:p>
        </p:txBody>
      </p:sp>
      <p:sp>
        <p:nvSpPr>
          <p:cNvPr id="10" name="TextBox 9"/>
          <p:cNvSpPr txBox="1"/>
          <p:nvPr/>
        </p:nvSpPr>
        <p:spPr>
          <a:xfrm>
            <a:off x="11521440" y="6492240"/>
            <a:ext cx="457200" cy="274320"/>
          </a:xfrm>
          <a:prstGeom prst="rect">
            <a:avLst/>
          </a:prstGeom>
          <a:noFill/>
        </p:spPr>
        <p:txBody>
          <a:bodyPr wrap="square" anchor="t" lIns="0" rIns="0" tIns="0" bIns="0">
            <a:spAutoFit/>
          </a:bodyPr>
          <a:lstStyle/>
          <a:p>
            <a:pPr algn="r">
              <a:lnSpc>
                <a:spcPct val="115000"/>
              </a:lnSpc>
            </a:pPr>
            <a:r>
              <a:rPr sz="900" b="0" i="0">
                <a:solidFill>
                  <a:srgbClr val="C7CDD6"/>
                </a:solidFill>
                <a:latin typeface="Yu Gothic"/>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3F5F7"/>
        </a:solidFill>
        <a:effectLst/>
      </p:bgPr>
    </p:bg>
    <p:spTree>
      <p:nvGrpSpPr>
        <p:cNvPr id="1" name=""/>
        <p:cNvGrpSpPr/>
        <p:nvPr/>
      </p:nvGrpSpPr>
      <p:grpSpPr/>
      <p:sp>
        <p:nvSpPr>
          <p:cNvPr id="2" name="TextBox 1"/>
          <p:cNvSpPr txBox="1"/>
          <p:nvPr/>
        </p:nvSpPr>
        <p:spPr>
          <a:xfrm>
            <a:off x="640080" y="502920"/>
            <a:ext cx="4572000" cy="365760"/>
          </a:xfrm>
          <a:prstGeom prst="rect">
            <a:avLst/>
          </a:prstGeom>
          <a:noFill/>
        </p:spPr>
        <p:txBody>
          <a:bodyPr wrap="square" anchor="t" lIns="0" rIns="0" tIns="0" bIns="0">
            <a:spAutoFit/>
          </a:bodyPr>
          <a:lstStyle/>
          <a:p>
            <a:pPr algn="l">
              <a:lnSpc>
                <a:spcPct val="115000"/>
              </a:lnSpc>
            </a:pPr>
            <a:r>
              <a:rPr sz="1400" b="1" i="0">
                <a:solidFill>
                  <a:srgbClr val="F5A623"/>
                </a:solidFill>
                <a:latin typeface="Yu Gothic"/>
              </a:rPr>
              <a:t>WORK - 5 MIN</a:t>
            </a:r>
          </a:p>
        </p:txBody>
      </p:sp>
      <p:sp>
        <p:nvSpPr>
          <p:cNvPr id="3" name="TextBox 2"/>
          <p:cNvSpPr txBox="1"/>
          <p:nvPr/>
        </p:nvSpPr>
        <p:spPr>
          <a:xfrm>
            <a:off x="640080" y="822960"/>
            <a:ext cx="10515600" cy="822960"/>
          </a:xfrm>
          <a:prstGeom prst="rect">
            <a:avLst/>
          </a:prstGeom>
          <a:noFill/>
        </p:spPr>
        <p:txBody>
          <a:bodyPr wrap="square" anchor="t" lIns="0" rIns="0" tIns="0" bIns="0">
            <a:spAutoFit/>
          </a:bodyPr>
          <a:lstStyle/>
          <a:p>
            <a:pPr algn="l">
              <a:lnSpc>
                <a:spcPct val="115000"/>
              </a:lnSpc>
            </a:pPr>
            <a:r>
              <a:rPr sz="3000" b="1" i="0">
                <a:solidFill>
                  <a:srgbClr val="17375E"/>
                </a:solidFill>
                <a:latin typeface="Yu Gothic"/>
              </a:rPr>
              <a:t>ワーク：自分が活動したい地域を考える</a:t>
            </a:r>
          </a:p>
        </p:txBody>
      </p:sp>
      <p:sp>
        <p:nvSpPr>
          <p:cNvPr id="4" name="Rectangle 3"/>
          <p:cNvSpPr/>
          <p:nvPr/>
        </p:nvSpPr>
        <p:spPr>
          <a:xfrm>
            <a:off x="640080" y="1600200"/>
            <a:ext cx="822960" cy="3810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691640"/>
            <a:ext cx="9144000" cy="365760"/>
          </a:xfrm>
          <a:prstGeom prst="rect">
            <a:avLst/>
          </a:prstGeom>
          <a:noFill/>
        </p:spPr>
        <p:txBody>
          <a:bodyPr wrap="square" anchor="t" lIns="0" rIns="0" tIns="0" bIns="0">
            <a:spAutoFit/>
          </a:bodyPr>
          <a:lstStyle/>
          <a:p>
            <a:pPr algn="l">
              <a:lnSpc>
                <a:spcPct val="115000"/>
              </a:lnSpc>
            </a:pPr>
            <a:r>
              <a:rPr sz="1300" b="0" i="0">
                <a:solidFill>
                  <a:srgbClr val="767C85"/>
                </a:solidFill>
                <a:latin typeface="Yu Gothic"/>
              </a:rPr>
              <a:t>以下を確認・記入してみましょう（5分）</a:t>
            </a:r>
          </a:p>
        </p:txBody>
      </p:sp>
      <p:sp>
        <p:nvSpPr>
          <p:cNvPr id="6" name="Rounded Rectangle 5"/>
          <p:cNvSpPr/>
          <p:nvPr/>
        </p:nvSpPr>
        <p:spPr>
          <a:xfrm>
            <a:off x="640080" y="2331720"/>
            <a:ext cx="10881360" cy="1143000"/>
          </a:xfrm>
          <a:prstGeom prst="roundRect">
            <a:avLst>
              <a:gd name="adj" fmla="val 10000"/>
            </a:avLst>
          </a:prstGeom>
          <a:solidFill>
            <a:srgbClr val="FFFFFF"/>
          </a:solidFill>
          <a:ln w="12700">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468880"/>
            <a:ext cx="731520" cy="457200"/>
          </a:xfrm>
          <a:prstGeom prst="rect">
            <a:avLst/>
          </a:prstGeom>
          <a:noFill/>
        </p:spPr>
        <p:txBody>
          <a:bodyPr wrap="square" anchor="t" lIns="0" rIns="0" tIns="0" bIns="0">
            <a:spAutoFit/>
          </a:bodyPr>
          <a:lstStyle/>
          <a:p>
            <a:pPr algn="l">
              <a:lnSpc>
                <a:spcPct val="115000"/>
              </a:lnSpc>
            </a:pPr>
            <a:r>
              <a:rPr sz="1800" b="1" i="0">
                <a:solidFill>
                  <a:srgbClr val="D98812"/>
                </a:solidFill>
                <a:latin typeface="Yu Gothic"/>
              </a:rPr>
              <a:t>Q1.</a:t>
            </a:r>
          </a:p>
        </p:txBody>
      </p:sp>
      <p:sp>
        <p:nvSpPr>
          <p:cNvPr id="8" name="TextBox 7"/>
          <p:cNvSpPr txBox="1"/>
          <p:nvPr/>
        </p:nvSpPr>
        <p:spPr>
          <a:xfrm>
            <a:off x="1737360" y="2331720"/>
            <a:ext cx="9509760" cy="1143000"/>
          </a:xfrm>
          <a:prstGeom prst="rect">
            <a:avLst/>
          </a:prstGeom>
          <a:noFill/>
        </p:spPr>
        <p:txBody>
          <a:bodyPr wrap="square" anchor="ctr" lIns="0" rIns="0" tIns="0" bIns="0">
            <a:spAutoFit/>
          </a:bodyPr>
          <a:lstStyle/>
          <a:p>
            <a:pPr algn="l">
              <a:lnSpc>
                <a:spcPct val="130000"/>
              </a:lnSpc>
            </a:pPr>
            <a:r>
              <a:rPr sz="1600" b="0" i="0">
                <a:solidFill>
                  <a:srgbClr val="1F2937"/>
                </a:solidFill>
                <a:latin typeface="Yu Gothic"/>
              </a:rPr>
              <a:t>あなたが将来アドバイザーとして活動したい地域・場所は？</a:t>
            </a:r>
          </a:p>
        </p:txBody>
      </p:sp>
      <p:sp>
        <p:nvSpPr>
          <p:cNvPr id="9" name="Rounded Rectangle 8"/>
          <p:cNvSpPr/>
          <p:nvPr/>
        </p:nvSpPr>
        <p:spPr>
          <a:xfrm>
            <a:off x="640080" y="3703320"/>
            <a:ext cx="10881360" cy="1143000"/>
          </a:xfrm>
          <a:prstGeom prst="roundRect">
            <a:avLst>
              <a:gd name="adj" fmla="val 10000"/>
            </a:avLst>
          </a:prstGeom>
          <a:solidFill>
            <a:srgbClr val="FFFFFF"/>
          </a:solidFill>
          <a:ln w="12700">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3840480"/>
            <a:ext cx="731520" cy="457200"/>
          </a:xfrm>
          <a:prstGeom prst="rect">
            <a:avLst/>
          </a:prstGeom>
          <a:noFill/>
        </p:spPr>
        <p:txBody>
          <a:bodyPr wrap="square" anchor="t" lIns="0" rIns="0" tIns="0" bIns="0">
            <a:spAutoFit/>
          </a:bodyPr>
          <a:lstStyle/>
          <a:p>
            <a:pPr algn="l">
              <a:lnSpc>
                <a:spcPct val="115000"/>
              </a:lnSpc>
            </a:pPr>
            <a:r>
              <a:rPr sz="1800" b="1" i="0">
                <a:solidFill>
                  <a:srgbClr val="D98812"/>
                </a:solidFill>
                <a:latin typeface="Yu Gothic"/>
              </a:rPr>
              <a:t>Q2.</a:t>
            </a:r>
          </a:p>
        </p:txBody>
      </p:sp>
      <p:sp>
        <p:nvSpPr>
          <p:cNvPr id="11" name="TextBox 10"/>
          <p:cNvSpPr txBox="1"/>
          <p:nvPr/>
        </p:nvSpPr>
        <p:spPr>
          <a:xfrm>
            <a:off x="1737360" y="3703320"/>
            <a:ext cx="9509760" cy="1143000"/>
          </a:xfrm>
          <a:prstGeom prst="rect">
            <a:avLst/>
          </a:prstGeom>
          <a:noFill/>
        </p:spPr>
        <p:txBody>
          <a:bodyPr wrap="square" anchor="ctr" lIns="0" rIns="0" tIns="0" bIns="0">
            <a:spAutoFit/>
          </a:bodyPr>
          <a:lstStyle/>
          <a:p>
            <a:pPr algn="l">
              <a:lnSpc>
                <a:spcPct val="130000"/>
              </a:lnSpc>
            </a:pPr>
            <a:r>
              <a:rPr sz="1600" b="0" i="0">
                <a:solidFill>
                  <a:srgbClr val="1F2937"/>
                </a:solidFill>
                <a:latin typeface="Yu Gothic"/>
              </a:rPr>
              <a:t>その地域には、どんな飼い主・ペットが多いと思いますか？</a:t>
            </a:r>
          </a:p>
        </p:txBody>
      </p:sp>
      <p:sp>
        <p:nvSpPr>
          <p:cNvPr id="12" name="Rounded Rectangle 11"/>
          <p:cNvSpPr/>
          <p:nvPr/>
        </p:nvSpPr>
        <p:spPr>
          <a:xfrm>
            <a:off x="640080" y="5074920"/>
            <a:ext cx="10881360" cy="1143000"/>
          </a:xfrm>
          <a:prstGeom prst="roundRect">
            <a:avLst>
              <a:gd name="adj" fmla="val 10000"/>
            </a:avLst>
          </a:prstGeom>
          <a:solidFill>
            <a:srgbClr val="FFFFFF"/>
          </a:solidFill>
          <a:ln w="12700">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5212080"/>
            <a:ext cx="731520" cy="457200"/>
          </a:xfrm>
          <a:prstGeom prst="rect">
            <a:avLst/>
          </a:prstGeom>
          <a:noFill/>
        </p:spPr>
        <p:txBody>
          <a:bodyPr wrap="square" anchor="t" lIns="0" rIns="0" tIns="0" bIns="0">
            <a:spAutoFit/>
          </a:bodyPr>
          <a:lstStyle/>
          <a:p>
            <a:pPr algn="l">
              <a:lnSpc>
                <a:spcPct val="115000"/>
              </a:lnSpc>
            </a:pPr>
            <a:r>
              <a:rPr sz="1800" b="1" i="0">
                <a:solidFill>
                  <a:srgbClr val="D98812"/>
                </a:solidFill>
                <a:latin typeface="Yu Gothic"/>
              </a:rPr>
              <a:t>Q3.</a:t>
            </a:r>
          </a:p>
        </p:txBody>
      </p:sp>
      <p:sp>
        <p:nvSpPr>
          <p:cNvPr id="14" name="TextBox 13"/>
          <p:cNvSpPr txBox="1"/>
          <p:nvPr/>
        </p:nvSpPr>
        <p:spPr>
          <a:xfrm>
            <a:off x="1737360" y="5074920"/>
            <a:ext cx="9509760" cy="1143000"/>
          </a:xfrm>
          <a:prstGeom prst="rect">
            <a:avLst/>
          </a:prstGeom>
          <a:noFill/>
        </p:spPr>
        <p:txBody>
          <a:bodyPr wrap="square" anchor="ctr" lIns="0" rIns="0" tIns="0" bIns="0">
            <a:spAutoFit/>
          </a:bodyPr>
          <a:lstStyle/>
          <a:p>
            <a:pPr algn="l">
              <a:lnSpc>
                <a:spcPct val="130000"/>
              </a:lnSpc>
            </a:pPr>
            <a:r>
              <a:rPr sz="1600" b="0" i="0">
                <a:solidFill>
                  <a:srgbClr val="1F2937"/>
                </a:solidFill>
                <a:latin typeface="Yu Gothic"/>
              </a:rPr>
              <a:t>まずはどんな小さな一歩から始められそうですか？</a:t>
            </a:r>
          </a:p>
        </p:txBody>
      </p:sp>
      <p:sp>
        <p:nvSpPr>
          <p:cNvPr id="15" name="TextBox 14"/>
          <p:cNvSpPr txBox="1"/>
          <p:nvPr/>
        </p:nvSpPr>
        <p:spPr>
          <a:xfrm>
            <a:off x="457200" y="6492240"/>
            <a:ext cx="6400800" cy="274320"/>
          </a:xfrm>
          <a:prstGeom prst="rect">
            <a:avLst/>
          </a:prstGeom>
          <a:noFill/>
        </p:spPr>
        <p:txBody>
          <a:bodyPr wrap="square" anchor="t" lIns="0" rIns="0" tIns="0" bIns="0">
            <a:spAutoFit/>
          </a:bodyPr>
          <a:lstStyle/>
          <a:p>
            <a:pPr algn="l">
              <a:lnSpc>
                <a:spcPct val="115000"/>
              </a:lnSpc>
            </a:pPr>
            <a:r>
              <a:rPr sz="900" b="0" i="0">
                <a:solidFill>
                  <a:srgbClr val="767C85"/>
                </a:solidFill>
                <a:latin typeface="Yu Gothic"/>
              </a:rPr>
              <a:t>一般社団法人 ペット防災アドバイザー協会　PDPA-101</a:t>
            </a:r>
          </a:p>
        </p:txBody>
      </p:sp>
      <p:sp>
        <p:nvSpPr>
          <p:cNvPr id="16" name="TextBox 15"/>
          <p:cNvSpPr txBox="1"/>
          <p:nvPr/>
        </p:nvSpPr>
        <p:spPr>
          <a:xfrm>
            <a:off x="11521440" y="6492240"/>
            <a:ext cx="457200" cy="274320"/>
          </a:xfrm>
          <a:prstGeom prst="rect">
            <a:avLst/>
          </a:prstGeom>
          <a:noFill/>
        </p:spPr>
        <p:txBody>
          <a:bodyPr wrap="square" anchor="t" lIns="0" rIns="0" tIns="0" bIns="0">
            <a:spAutoFit/>
          </a:bodyPr>
          <a:lstStyle/>
          <a:p>
            <a:pPr algn="r">
              <a:lnSpc>
                <a:spcPct val="115000"/>
              </a:lnSpc>
            </a:pPr>
            <a:r>
              <a:rPr sz="900" b="0" i="0">
                <a:solidFill>
                  <a:srgbClr val="767C85"/>
                </a:solidFill>
                <a:latin typeface="Yu Gothic"/>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7375E"/>
        </a:solidFill>
        <a:effectLst/>
      </p:bgPr>
    </p:bg>
    <p:spTree>
      <p:nvGrpSpPr>
        <p:cNvPr id="1" name=""/>
        <p:cNvGrpSpPr/>
        <p:nvPr/>
      </p:nvGrpSpPr>
      <p:grpSpPr/>
      <p:sp>
        <p:nvSpPr>
          <p:cNvPr id="2" name="TextBox 1"/>
          <p:cNvSpPr txBox="1"/>
          <p:nvPr/>
        </p:nvSpPr>
        <p:spPr>
          <a:xfrm>
            <a:off x="640080" y="502920"/>
            <a:ext cx="4572000" cy="365760"/>
          </a:xfrm>
          <a:prstGeom prst="rect">
            <a:avLst/>
          </a:prstGeom>
          <a:noFill/>
        </p:spPr>
        <p:txBody>
          <a:bodyPr wrap="square" anchor="t" lIns="0" rIns="0" tIns="0" bIns="0">
            <a:spAutoFit/>
          </a:bodyPr>
          <a:lstStyle/>
          <a:p>
            <a:pPr algn="l">
              <a:lnSpc>
                <a:spcPct val="115000"/>
              </a:lnSpc>
            </a:pPr>
            <a:r>
              <a:rPr sz="1400" b="1" i="0">
                <a:solidFill>
                  <a:srgbClr val="F5A623"/>
                </a:solidFill>
                <a:latin typeface="Yu Gothic"/>
              </a:rPr>
              <a:t>SUMMARY</a:t>
            </a:r>
          </a:p>
        </p:txBody>
      </p:sp>
      <p:sp>
        <p:nvSpPr>
          <p:cNvPr id="3" name="TextBox 2"/>
          <p:cNvSpPr txBox="1"/>
          <p:nvPr/>
        </p:nvSpPr>
        <p:spPr>
          <a:xfrm>
            <a:off x="640080" y="822960"/>
            <a:ext cx="10515600" cy="822960"/>
          </a:xfrm>
          <a:prstGeom prst="rect">
            <a:avLst/>
          </a:prstGeom>
          <a:noFill/>
        </p:spPr>
        <p:txBody>
          <a:bodyPr wrap="square" anchor="t" lIns="0" rIns="0" tIns="0" bIns="0">
            <a:spAutoFit/>
          </a:bodyPr>
          <a:lstStyle/>
          <a:p>
            <a:pPr algn="l">
              <a:lnSpc>
                <a:spcPct val="115000"/>
              </a:lnSpc>
            </a:pPr>
            <a:r>
              <a:rPr sz="3000" b="1" i="0">
                <a:solidFill>
                  <a:srgbClr val="FFFFFF"/>
                </a:solidFill>
                <a:latin typeface="Yu Gothic"/>
              </a:rPr>
              <a:t>今日のまとめ</a:t>
            </a:r>
          </a:p>
        </p:txBody>
      </p:sp>
      <p:sp>
        <p:nvSpPr>
          <p:cNvPr id="4" name="Rectangle 3"/>
          <p:cNvSpPr/>
          <p:nvPr/>
        </p:nvSpPr>
        <p:spPr>
          <a:xfrm>
            <a:off x="640080" y="1600200"/>
            <a:ext cx="822960" cy="3810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783080"/>
            <a:ext cx="5486400" cy="365760"/>
          </a:xfrm>
          <a:prstGeom prst="rect">
            <a:avLst/>
          </a:prstGeom>
          <a:noFill/>
        </p:spPr>
        <p:txBody>
          <a:bodyPr wrap="square" anchor="t" lIns="0" rIns="0" tIns="0" bIns="0">
            <a:spAutoFit/>
          </a:bodyPr>
          <a:lstStyle/>
          <a:p>
            <a:pPr algn="l">
              <a:lnSpc>
                <a:spcPct val="115000"/>
              </a:lnSpc>
            </a:pPr>
            <a:r>
              <a:rPr sz="1500" b="0" i="0">
                <a:solidFill>
                  <a:srgbClr val="C7CDD6"/>
                </a:solidFill>
                <a:latin typeface="Yu Gothic"/>
              </a:rPr>
              <a:t>覚えること　3つ</a:t>
            </a:r>
          </a:p>
        </p:txBody>
      </p:sp>
      <p:sp>
        <p:nvSpPr>
          <p:cNvPr id="6" name="Rounded Rectangle 5"/>
          <p:cNvSpPr/>
          <p:nvPr/>
        </p:nvSpPr>
        <p:spPr>
          <a:xfrm>
            <a:off x="640080" y="2286000"/>
            <a:ext cx="10881360" cy="1143000"/>
          </a:xfrm>
          <a:prstGeom prst="roundRect">
            <a:avLst>
              <a:gd name="adj" fmla="val 10000"/>
            </a:avLst>
          </a:prstGeom>
          <a:solidFill>
            <a:srgbClr val="2245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60120" y="2633472"/>
            <a:ext cx="457200" cy="45720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FFFFFF"/>
                </a:solidFill>
                <a:latin typeface="Yu Gothic"/>
              </a:rPr>
              <a:t>1</a:t>
            </a:r>
          </a:p>
        </p:txBody>
      </p:sp>
      <p:sp>
        <p:nvSpPr>
          <p:cNvPr id="8" name="TextBox 7"/>
          <p:cNvSpPr txBox="1"/>
          <p:nvPr/>
        </p:nvSpPr>
        <p:spPr>
          <a:xfrm>
            <a:off x="1737360" y="2286000"/>
            <a:ext cx="9418320" cy="1143000"/>
          </a:xfrm>
          <a:prstGeom prst="rect">
            <a:avLst/>
          </a:prstGeom>
          <a:noFill/>
        </p:spPr>
        <p:txBody>
          <a:bodyPr wrap="square" anchor="ctr" lIns="0" rIns="0" tIns="0" bIns="0">
            <a:spAutoFit/>
          </a:bodyPr>
          <a:lstStyle/>
          <a:p>
            <a:pPr algn="l">
              <a:lnSpc>
                <a:spcPct val="130000"/>
              </a:lnSpc>
            </a:pPr>
            <a:r>
              <a:rPr sz="1600" b="0" i="0">
                <a:solidFill>
                  <a:srgbClr val="FFFFFF"/>
                </a:solidFill>
                <a:latin typeface="Yu Gothic"/>
              </a:rPr>
              <a:t>ペット防災アドバイザーは、防災啓発・教育・情報提供を通じて地域に貢献する存在</a:t>
            </a:r>
          </a:p>
        </p:txBody>
      </p:sp>
      <p:sp>
        <p:nvSpPr>
          <p:cNvPr id="9" name="Rounded Rectangle 8"/>
          <p:cNvSpPr/>
          <p:nvPr/>
        </p:nvSpPr>
        <p:spPr>
          <a:xfrm>
            <a:off x="640080" y="3657600"/>
            <a:ext cx="10881360" cy="1143000"/>
          </a:xfrm>
          <a:prstGeom prst="roundRect">
            <a:avLst>
              <a:gd name="adj" fmla="val 10000"/>
            </a:avLst>
          </a:prstGeom>
          <a:solidFill>
            <a:srgbClr val="2245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960120" y="4005072"/>
            <a:ext cx="457200" cy="45720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FFFFFF"/>
                </a:solidFill>
                <a:latin typeface="Yu Gothic"/>
              </a:rPr>
              <a:t>2</a:t>
            </a:r>
          </a:p>
        </p:txBody>
      </p:sp>
      <p:sp>
        <p:nvSpPr>
          <p:cNvPr id="11" name="TextBox 10"/>
          <p:cNvSpPr txBox="1"/>
          <p:nvPr/>
        </p:nvSpPr>
        <p:spPr>
          <a:xfrm>
            <a:off x="1737360" y="3657600"/>
            <a:ext cx="9418320" cy="1143000"/>
          </a:xfrm>
          <a:prstGeom prst="rect">
            <a:avLst/>
          </a:prstGeom>
          <a:noFill/>
        </p:spPr>
        <p:txBody>
          <a:bodyPr wrap="square" anchor="ctr" lIns="0" rIns="0" tIns="0" bIns="0">
            <a:spAutoFit/>
          </a:bodyPr>
          <a:lstStyle/>
          <a:p>
            <a:pPr algn="l">
              <a:lnSpc>
                <a:spcPct val="130000"/>
              </a:lnSpc>
            </a:pPr>
            <a:r>
              <a:rPr sz="1600" b="0" i="0">
                <a:solidFill>
                  <a:srgbClr val="FFFFFF"/>
                </a:solidFill>
                <a:latin typeface="Yu Gothic"/>
              </a:rPr>
              <a:t>「同行避難」と「同伴避難」は異なる意味を持つ、正確に理解する</a:t>
            </a:r>
          </a:p>
        </p:txBody>
      </p:sp>
      <p:sp>
        <p:nvSpPr>
          <p:cNvPr id="12" name="Rounded Rectangle 11"/>
          <p:cNvSpPr/>
          <p:nvPr/>
        </p:nvSpPr>
        <p:spPr>
          <a:xfrm>
            <a:off x="640080" y="5029200"/>
            <a:ext cx="10881360" cy="1143000"/>
          </a:xfrm>
          <a:prstGeom prst="roundRect">
            <a:avLst>
              <a:gd name="adj" fmla="val 10000"/>
            </a:avLst>
          </a:prstGeom>
          <a:solidFill>
            <a:srgbClr val="2245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960120" y="5376672"/>
            <a:ext cx="457200" cy="45720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FFFFFF"/>
                </a:solidFill>
                <a:latin typeface="Yu Gothic"/>
              </a:rPr>
              <a:t>3</a:t>
            </a:r>
          </a:p>
        </p:txBody>
      </p:sp>
      <p:sp>
        <p:nvSpPr>
          <p:cNvPr id="14" name="TextBox 13"/>
          <p:cNvSpPr txBox="1"/>
          <p:nvPr/>
        </p:nvSpPr>
        <p:spPr>
          <a:xfrm>
            <a:off x="1737360" y="5029200"/>
            <a:ext cx="9418320" cy="1143000"/>
          </a:xfrm>
          <a:prstGeom prst="rect">
            <a:avLst/>
          </a:prstGeom>
          <a:noFill/>
        </p:spPr>
        <p:txBody>
          <a:bodyPr wrap="square" anchor="ctr" lIns="0" rIns="0" tIns="0" bIns="0">
            <a:spAutoFit/>
          </a:bodyPr>
          <a:lstStyle/>
          <a:p>
            <a:pPr algn="l">
              <a:lnSpc>
                <a:spcPct val="130000"/>
              </a:lnSpc>
            </a:pPr>
            <a:r>
              <a:rPr sz="1600" b="0" i="0">
                <a:solidFill>
                  <a:srgbClr val="FFFFFF"/>
                </a:solidFill>
                <a:latin typeface="Yu Gothic"/>
              </a:rPr>
              <a:t>獣医療や行政判断が必要な相談は、専門職や自治体への橋渡しを行う</a:t>
            </a:r>
          </a:p>
        </p:txBody>
      </p:sp>
      <p:sp>
        <p:nvSpPr>
          <p:cNvPr id="15" name="TextBox 14"/>
          <p:cNvSpPr txBox="1"/>
          <p:nvPr/>
        </p:nvSpPr>
        <p:spPr>
          <a:xfrm>
            <a:off x="457200" y="6492240"/>
            <a:ext cx="6400800" cy="274320"/>
          </a:xfrm>
          <a:prstGeom prst="rect">
            <a:avLst/>
          </a:prstGeom>
          <a:noFill/>
        </p:spPr>
        <p:txBody>
          <a:bodyPr wrap="square" anchor="t" lIns="0" rIns="0" tIns="0" bIns="0">
            <a:spAutoFit/>
          </a:bodyPr>
          <a:lstStyle/>
          <a:p>
            <a:pPr algn="l">
              <a:lnSpc>
                <a:spcPct val="115000"/>
              </a:lnSpc>
            </a:pPr>
            <a:r>
              <a:rPr sz="900" b="0" i="0">
                <a:solidFill>
                  <a:srgbClr val="C7CDD6"/>
                </a:solidFill>
                <a:latin typeface="Yu Gothic"/>
              </a:rPr>
              <a:t>一般社団法人 ペット防災アドバイザー協会　PDPA-101</a:t>
            </a:r>
          </a:p>
        </p:txBody>
      </p:sp>
      <p:sp>
        <p:nvSpPr>
          <p:cNvPr id="16" name="TextBox 15"/>
          <p:cNvSpPr txBox="1"/>
          <p:nvPr/>
        </p:nvSpPr>
        <p:spPr>
          <a:xfrm>
            <a:off x="11521440" y="6492240"/>
            <a:ext cx="457200" cy="274320"/>
          </a:xfrm>
          <a:prstGeom prst="rect">
            <a:avLst/>
          </a:prstGeom>
          <a:noFill/>
        </p:spPr>
        <p:txBody>
          <a:bodyPr wrap="square" anchor="t" lIns="0" rIns="0" tIns="0" bIns="0">
            <a:spAutoFit/>
          </a:bodyPr>
          <a:lstStyle/>
          <a:p>
            <a:pPr algn="r">
              <a:lnSpc>
                <a:spcPct val="115000"/>
              </a:lnSpc>
            </a:pPr>
            <a:r>
              <a:rPr sz="900" b="0" i="0">
                <a:solidFill>
                  <a:srgbClr val="C7CDD6"/>
                </a:solidFill>
                <a:latin typeface="Yu Gothic"/>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3F5F7"/>
        </a:solidFill>
        <a:effectLst/>
      </p:bgPr>
    </p:bg>
    <p:spTree>
      <p:nvGrpSpPr>
        <p:cNvPr id="1" name=""/>
        <p:cNvGrpSpPr/>
        <p:nvPr/>
      </p:nvGrpSpPr>
      <p:grpSpPr/>
      <p:sp>
        <p:nvSpPr>
          <p:cNvPr id="2" name="TextBox 1"/>
          <p:cNvSpPr txBox="1"/>
          <p:nvPr/>
        </p:nvSpPr>
        <p:spPr>
          <a:xfrm>
            <a:off x="4114800" y="1463040"/>
            <a:ext cx="4572000" cy="365760"/>
          </a:xfrm>
          <a:prstGeom prst="rect">
            <a:avLst/>
          </a:prstGeom>
          <a:noFill/>
        </p:spPr>
        <p:txBody>
          <a:bodyPr wrap="square" anchor="t" lIns="0" rIns="0" tIns="0" bIns="0">
            <a:spAutoFit/>
          </a:bodyPr>
          <a:lstStyle/>
          <a:p>
            <a:pPr algn="l">
              <a:lnSpc>
                <a:spcPct val="115000"/>
              </a:lnSpc>
            </a:pPr>
            <a:r>
              <a:rPr sz="1400" b="1" i="0">
                <a:solidFill>
                  <a:srgbClr val="D98812"/>
                </a:solidFill>
                <a:latin typeface="Yu Gothic"/>
              </a:rPr>
              <a:t>CHECK YOUR UNDERSTANDING</a:t>
            </a:r>
          </a:p>
        </p:txBody>
      </p:sp>
      <p:sp>
        <p:nvSpPr>
          <p:cNvPr id="3" name="TextBox 2"/>
          <p:cNvSpPr txBox="1"/>
          <p:nvPr/>
        </p:nvSpPr>
        <p:spPr>
          <a:xfrm>
            <a:off x="4114800" y="1463040"/>
            <a:ext cx="914400" cy="914400"/>
          </a:xfrm>
          <a:prstGeom prst="rect">
            <a:avLst/>
          </a:prstGeom>
          <a:noFill/>
        </p:spPr>
        <p:txBody>
          <a:bodyPr wrap="none">
            <a:spAutoFit/>
          </a:bodyPr>
          <a:lstStyle/>
          <a:p/>
        </p:txBody>
      </p:sp>
      <p:sp>
        <p:nvSpPr>
          <p:cNvPr id="4" name="TextBox 3"/>
          <p:cNvSpPr txBox="1"/>
          <p:nvPr/>
        </p:nvSpPr>
        <p:spPr>
          <a:xfrm>
            <a:off x="0" y="1828800"/>
            <a:ext cx="12191695" cy="822960"/>
          </a:xfrm>
          <a:prstGeom prst="rect">
            <a:avLst/>
          </a:prstGeom>
          <a:noFill/>
        </p:spPr>
        <p:txBody>
          <a:bodyPr wrap="square" anchor="t" lIns="0" rIns="0" tIns="0" bIns="0">
            <a:spAutoFit/>
          </a:bodyPr>
          <a:lstStyle/>
          <a:p>
            <a:pPr algn="ctr">
              <a:lnSpc>
                <a:spcPct val="115000"/>
              </a:lnSpc>
            </a:pPr>
            <a:r>
              <a:rPr sz="3400" b="1" i="0">
                <a:solidFill>
                  <a:srgbClr val="17375E"/>
                </a:solidFill>
                <a:latin typeface="Yu Gothic"/>
              </a:rPr>
              <a:t>理解度確認テスト</a:t>
            </a:r>
          </a:p>
        </p:txBody>
      </p:sp>
      <p:sp>
        <p:nvSpPr>
          <p:cNvPr id="5" name="Rounded Rectangle 4"/>
          <p:cNvSpPr/>
          <p:nvPr/>
        </p:nvSpPr>
        <p:spPr>
          <a:xfrm>
            <a:off x="1340967" y="3017520"/>
            <a:ext cx="2926080" cy="1645920"/>
          </a:xfrm>
          <a:prstGeom prst="roundRect">
            <a:avLst>
              <a:gd name="adj" fmla="val 10000"/>
            </a:avLst>
          </a:prstGeom>
          <a:solidFill>
            <a:srgbClr val="FFFFFF"/>
          </a:solidFill>
          <a:ln w="12700">
            <a:solidFill>
              <a:srgbClr val="EAE6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340967" y="3246120"/>
            <a:ext cx="2926080" cy="822960"/>
          </a:xfrm>
          <a:prstGeom prst="rect">
            <a:avLst/>
          </a:prstGeom>
          <a:noFill/>
        </p:spPr>
        <p:txBody>
          <a:bodyPr wrap="square" anchor="t" lIns="0" rIns="0" tIns="0" bIns="0">
            <a:spAutoFit/>
          </a:bodyPr>
          <a:lstStyle/>
          <a:p>
            <a:pPr algn="ctr">
              <a:lnSpc>
                <a:spcPct val="115000"/>
              </a:lnSpc>
            </a:pPr>
            <a:r>
              <a:rPr sz="3000" b="1" i="0">
                <a:solidFill>
                  <a:srgbClr val="D98812"/>
                </a:solidFill>
                <a:latin typeface="Yu Gothic"/>
              </a:rPr>
              <a:t>10問</a:t>
            </a:r>
          </a:p>
        </p:txBody>
      </p:sp>
      <p:sp>
        <p:nvSpPr>
          <p:cNvPr id="7" name="TextBox 6"/>
          <p:cNvSpPr txBox="1"/>
          <p:nvPr/>
        </p:nvSpPr>
        <p:spPr>
          <a:xfrm>
            <a:off x="1340967" y="4114800"/>
            <a:ext cx="2926080" cy="365760"/>
          </a:xfrm>
          <a:prstGeom prst="rect">
            <a:avLst/>
          </a:prstGeom>
          <a:noFill/>
        </p:spPr>
        <p:txBody>
          <a:bodyPr wrap="square" anchor="t" lIns="0" rIns="0" tIns="0" bIns="0">
            <a:spAutoFit/>
          </a:bodyPr>
          <a:lstStyle/>
          <a:p>
            <a:pPr algn="ctr">
              <a:lnSpc>
                <a:spcPct val="115000"/>
              </a:lnSpc>
            </a:pPr>
            <a:r>
              <a:rPr sz="1300" b="0" i="0">
                <a:solidFill>
                  <a:srgbClr val="767C85"/>
                </a:solidFill>
                <a:latin typeface="Yu Gothic"/>
              </a:rPr>
              <a:t>問題数</a:t>
            </a:r>
          </a:p>
        </p:txBody>
      </p:sp>
      <p:sp>
        <p:nvSpPr>
          <p:cNvPr id="8" name="Rounded Rectangle 7"/>
          <p:cNvSpPr/>
          <p:nvPr/>
        </p:nvSpPr>
        <p:spPr>
          <a:xfrm>
            <a:off x="4632807" y="3017520"/>
            <a:ext cx="2926080" cy="1645920"/>
          </a:xfrm>
          <a:prstGeom prst="roundRect">
            <a:avLst>
              <a:gd name="adj" fmla="val 10000"/>
            </a:avLst>
          </a:prstGeom>
          <a:solidFill>
            <a:srgbClr val="FFFFFF"/>
          </a:solidFill>
          <a:ln w="12700">
            <a:solidFill>
              <a:srgbClr val="EAE6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32807" y="3246120"/>
            <a:ext cx="2926080" cy="822960"/>
          </a:xfrm>
          <a:prstGeom prst="rect">
            <a:avLst/>
          </a:prstGeom>
          <a:noFill/>
        </p:spPr>
        <p:txBody>
          <a:bodyPr wrap="square" anchor="t" lIns="0" rIns="0" tIns="0" bIns="0">
            <a:spAutoFit/>
          </a:bodyPr>
          <a:lstStyle/>
          <a:p>
            <a:pPr algn="ctr">
              <a:lnSpc>
                <a:spcPct val="115000"/>
              </a:lnSpc>
            </a:pPr>
            <a:r>
              <a:rPr sz="3000" b="1" i="0">
                <a:solidFill>
                  <a:srgbClr val="D98812"/>
                </a:solidFill>
                <a:latin typeface="Yu Gothic"/>
              </a:rPr>
              <a:t>4択形式</a:t>
            </a:r>
          </a:p>
        </p:txBody>
      </p:sp>
      <p:sp>
        <p:nvSpPr>
          <p:cNvPr id="10" name="TextBox 9"/>
          <p:cNvSpPr txBox="1"/>
          <p:nvPr/>
        </p:nvSpPr>
        <p:spPr>
          <a:xfrm>
            <a:off x="4632807" y="4114800"/>
            <a:ext cx="2926080" cy="365760"/>
          </a:xfrm>
          <a:prstGeom prst="rect">
            <a:avLst/>
          </a:prstGeom>
          <a:noFill/>
        </p:spPr>
        <p:txBody>
          <a:bodyPr wrap="square" anchor="t" lIns="0" rIns="0" tIns="0" bIns="0">
            <a:spAutoFit/>
          </a:bodyPr>
          <a:lstStyle/>
          <a:p>
            <a:pPr algn="ctr">
              <a:lnSpc>
                <a:spcPct val="115000"/>
              </a:lnSpc>
            </a:pPr>
            <a:r>
              <a:rPr sz="1300" b="0" i="0">
                <a:solidFill>
                  <a:srgbClr val="767C85"/>
                </a:solidFill>
                <a:latin typeface="Yu Gothic"/>
              </a:rPr>
              <a:t>回答方式</a:t>
            </a:r>
          </a:p>
        </p:txBody>
      </p:sp>
      <p:sp>
        <p:nvSpPr>
          <p:cNvPr id="11" name="Rounded Rectangle 10"/>
          <p:cNvSpPr/>
          <p:nvPr/>
        </p:nvSpPr>
        <p:spPr>
          <a:xfrm>
            <a:off x="7924647" y="3017520"/>
            <a:ext cx="2926080" cy="1645920"/>
          </a:xfrm>
          <a:prstGeom prst="roundRect">
            <a:avLst>
              <a:gd name="adj" fmla="val 10000"/>
            </a:avLst>
          </a:prstGeom>
          <a:solidFill>
            <a:srgbClr val="FFFFFF"/>
          </a:solidFill>
          <a:ln w="12700">
            <a:solidFill>
              <a:srgbClr val="EAE6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24647" y="3246120"/>
            <a:ext cx="2926080" cy="822960"/>
          </a:xfrm>
          <a:prstGeom prst="rect">
            <a:avLst/>
          </a:prstGeom>
          <a:noFill/>
        </p:spPr>
        <p:txBody>
          <a:bodyPr wrap="square" anchor="t" lIns="0" rIns="0" tIns="0" bIns="0">
            <a:spAutoFit/>
          </a:bodyPr>
          <a:lstStyle/>
          <a:p>
            <a:pPr algn="ctr">
              <a:lnSpc>
                <a:spcPct val="115000"/>
              </a:lnSpc>
            </a:pPr>
            <a:r>
              <a:rPr sz="3000" b="1" i="0">
                <a:solidFill>
                  <a:srgbClr val="D98812"/>
                </a:solidFill>
                <a:latin typeface="Yu Gothic"/>
              </a:rPr>
              <a:t>約10分</a:t>
            </a:r>
          </a:p>
        </p:txBody>
      </p:sp>
      <p:sp>
        <p:nvSpPr>
          <p:cNvPr id="13" name="TextBox 12"/>
          <p:cNvSpPr txBox="1"/>
          <p:nvPr/>
        </p:nvSpPr>
        <p:spPr>
          <a:xfrm>
            <a:off x="7924647" y="4114800"/>
            <a:ext cx="2926080" cy="365760"/>
          </a:xfrm>
          <a:prstGeom prst="rect">
            <a:avLst/>
          </a:prstGeom>
          <a:noFill/>
        </p:spPr>
        <p:txBody>
          <a:bodyPr wrap="square" anchor="t" lIns="0" rIns="0" tIns="0" bIns="0">
            <a:spAutoFit/>
          </a:bodyPr>
          <a:lstStyle/>
          <a:p>
            <a:pPr algn="ctr">
              <a:lnSpc>
                <a:spcPct val="115000"/>
              </a:lnSpc>
            </a:pPr>
            <a:r>
              <a:rPr sz="1300" b="0" i="0">
                <a:solidFill>
                  <a:srgbClr val="767C85"/>
                </a:solidFill>
                <a:latin typeface="Yu Gothic"/>
              </a:rPr>
              <a:t>所要時間</a:t>
            </a:r>
          </a:p>
        </p:txBody>
      </p:sp>
      <p:sp>
        <p:nvSpPr>
          <p:cNvPr id="14" name="TextBox 13"/>
          <p:cNvSpPr txBox="1"/>
          <p:nvPr/>
        </p:nvSpPr>
        <p:spPr>
          <a:xfrm>
            <a:off x="0" y="5120640"/>
            <a:ext cx="12191695" cy="457200"/>
          </a:xfrm>
          <a:prstGeom prst="rect">
            <a:avLst/>
          </a:prstGeom>
          <a:noFill/>
        </p:spPr>
        <p:txBody>
          <a:bodyPr wrap="square" anchor="t" lIns="0" rIns="0" tIns="0" bIns="0">
            <a:spAutoFit/>
          </a:bodyPr>
          <a:lstStyle/>
          <a:p>
            <a:pPr algn="ctr">
              <a:lnSpc>
                <a:spcPct val="115000"/>
              </a:lnSpc>
            </a:pPr>
            <a:r>
              <a:rPr sz="1500" b="0" i="0">
                <a:solidFill>
                  <a:srgbClr val="767C85"/>
                </a:solidFill>
                <a:latin typeface="Yu Gothic"/>
              </a:rPr>
              <a:t>今日の講義内容から出題します</a:t>
            </a:r>
          </a:p>
        </p:txBody>
      </p:sp>
      <p:sp>
        <p:nvSpPr>
          <p:cNvPr id="15" name="TextBox 14"/>
          <p:cNvSpPr txBox="1"/>
          <p:nvPr/>
        </p:nvSpPr>
        <p:spPr>
          <a:xfrm>
            <a:off x="457200" y="6492240"/>
            <a:ext cx="6400800" cy="274320"/>
          </a:xfrm>
          <a:prstGeom prst="rect">
            <a:avLst/>
          </a:prstGeom>
          <a:noFill/>
        </p:spPr>
        <p:txBody>
          <a:bodyPr wrap="square" anchor="t" lIns="0" rIns="0" tIns="0" bIns="0">
            <a:spAutoFit/>
          </a:bodyPr>
          <a:lstStyle/>
          <a:p>
            <a:pPr algn="l">
              <a:lnSpc>
                <a:spcPct val="115000"/>
              </a:lnSpc>
            </a:pPr>
            <a:r>
              <a:rPr sz="900" b="0" i="0">
                <a:solidFill>
                  <a:srgbClr val="767C85"/>
                </a:solidFill>
                <a:latin typeface="Yu Gothic"/>
              </a:rPr>
              <a:t>一般社団法人 ペット防災アドバイザー協会　PDPA-101</a:t>
            </a:r>
          </a:p>
        </p:txBody>
      </p:sp>
      <p:sp>
        <p:nvSpPr>
          <p:cNvPr id="16" name="TextBox 15"/>
          <p:cNvSpPr txBox="1"/>
          <p:nvPr/>
        </p:nvSpPr>
        <p:spPr>
          <a:xfrm>
            <a:off x="11521440" y="6492240"/>
            <a:ext cx="457200" cy="274320"/>
          </a:xfrm>
          <a:prstGeom prst="rect">
            <a:avLst/>
          </a:prstGeom>
          <a:noFill/>
        </p:spPr>
        <p:txBody>
          <a:bodyPr wrap="square" anchor="t" lIns="0" rIns="0" tIns="0" bIns="0">
            <a:spAutoFit/>
          </a:bodyPr>
          <a:lstStyle/>
          <a:p>
            <a:pPr algn="r">
              <a:lnSpc>
                <a:spcPct val="115000"/>
              </a:lnSpc>
            </a:pPr>
            <a:r>
              <a:rPr sz="900" b="0" i="0">
                <a:solidFill>
                  <a:srgbClr val="767C85"/>
                </a:solidFill>
                <a:latin typeface="Yu Gothic"/>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7375E"/>
        </a:solidFill>
        <a:effectLst/>
      </p:bgPr>
    </p:bg>
    <p:spTree>
      <p:nvGrpSpPr>
        <p:cNvPr id="1" name=""/>
        <p:cNvGrpSpPr/>
        <p:nvPr/>
      </p:nvGrpSpPr>
      <p:grpSpPr/>
      <p:sp>
        <p:nvSpPr>
          <p:cNvPr id="2" name="TextBox 1"/>
          <p:cNvSpPr txBox="1"/>
          <p:nvPr/>
        </p:nvSpPr>
        <p:spPr>
          <a:xfrm>
            <a:off x="640080" y="2377440"/>
            <a:ext cx="4572000" cy="365760"/>
          </a:xfrm>
          <a:prstGeom prst="rect">
            <a:avLst/>
          </a:prstGeom>
          <a:noFill/>
        </p:spPr>
        <p:txBody>
          <a:bodyPr wrap="square" anchor="t" lIns="0" rIns="0" tIns="0" bIns="0">
            <a:spAutoFit/>
          </a:bodyPr>
          <a:lstStyle/>
          <a:p>
            <a:pPr algn="l">
              <a:lnSpc>
                <a:spcPct val="115000"/>
              </a:lnSpc>
            </a:pPr>
            <a:r>
              <a:rPr sz="1400" b="1" i="0">
                <a:solidFill>
                  <a:srgbClr val="F5A623"/>
                </a:solidFill>
                <a:latin typeface="Yu Gothic"/>
              </a:rPr>
              <a:t>NEXT SESSION</a:t>
            </a:r>
          </a:p>
        </p:txBody>
      </p:sp>
      <p:sp>
        <p:nvSpPr>
          <p:cNvPr id="3" name="TextBox 2"/>
          <p:cNvSpPr txBox="1"/>
          <p:nvPr/>
        </p:nvSpPr>
        <p:spPr>
          <a:xfrm>
            <a:off x="0" y="2743200"/>
            <a:ext cx="12191695" cy="822960"/>
          </a:xfrm>
          <a:prstGeom prst="rect">
            <a:avLst/>
          </a:prstGeom>
          <a:noFill/>
        </p:spPr>
        <p:txBody>
          <a:bodyPr wrap="square" anchor="t" lIns="0" rIns="0" tIns="0" bIns="0">
            <a:spAutoFit/>
          </a:bodyPr>
          <a:lstStyle/>
          <a:p>
            <a:pPr algn="ctr">
              <a:lnSpc>
                <a:spcPct val="115000"/>
              </a:lnSpc>
            </a:pPr>
            <a:r>
              <a:rPr sz="3200" b="1" i="0">
                <a:solidFill>
                  <a:srgbClr val="FFFFFF"/>
                </a:solidFill>
                <a:latin typeface="Yu Gothic"/>
              </a:rPr>
              <a:t>次回予告</a:t>
            </a:r>
          </a:p>
        </p:txBody>
      </p:sp>
      <p:sp>
        <p:nvSpPr>
          <p:cNvPr id="4" name="TextBox 3"/>
          <p:cNvSpPr txBox="1"/>
          <p:nvPr/>
        </p:nvSpPr>
        <p:spPr>
          <a:xfrm>
            <a:off x="0" y="3520440"/>
            <a:ext cx="12191695" cy="640080"/>
          </a:xfrm>
          <a:prstGeom prst="rect">
            <a:avLst/>
          </a:prstGeom>
          <a:noFill/>
        </p:spPr>
        <p:txBody>
          <a:bodyPr wrap="square" anchor="t" lIns="0" rIns="0" tIns="0" bIns="0">
            <a:spAutoFit/>
          </a:bodyPr>
          <a:lstStyle/>
          <a:p>
            <a:pPr algn="ctr">
              <a:lnSpc>
                <a:spcPct val="115000"/>
              </a:lnSpc>
            </a:pPr>
            <a:r>
              <a:rPr sz="2200" b="1" i="0">
                <a:solidFill>
                  <a:srgbClr val="F5A623"/>
                </a:solidFill>
                <a:latin typeface="Yu Gothic"/>
              </a:rPr>
              <a:t>第2回　日本で起こる自然災害を知る</a:t>
            </a:r>
          </a:p>
        </p:txBody>
      </p:sp>
      <p:sp>
        <p:nvSpPr>
          <p:cNvPr id="5" name="TextBox 4"/>
          <p:cNvSpPr txBox="1"/>
          <p:nvPr/>
        </p:nvSpPr>
        <p:spPr>
          <a:xfrm>
            <a:off x="0" y="4389120"/>
            <a:ext cx="12191695" cy="457200"/>
          </a:xfrm>
          <a:prstGeom prst="rect">
            <a:avLst/>
          </a:prstGeom>
          <a:noFill/>
        </p:spPr>
        <p:txBody>
          <a:bodyPr wrap="square" anchor="t" lIns="0" rIns="0" tIns="0" bIns="0">
            <a:spAutoFit/>
          </a:bodyPr>
          <a:lstStyle/>
          <a:p>
            <a:pPr algn="ctr">
              <a:lnSpc>
                <a:spcPct val="115000"/>
              </a:lnSpc>
            </a:pPr>
            <a:r>
              <a:rPr sz="1500" b="0" i="0">
                <a:solidFill>
                  <a:srgbClr val="C7CDD6"/>
                </a:solidFill>
                <a:latin typeface="Yu Gothic"/>
              </a:rPr>
              <a:t>お疲れさまでした。次回もよろしくお願いいたします。</a:t>
            </a:r>
          </a:p>
        </p:txBody>
      </p:sp>
      <p:sp>
        <p:nvSpPr>
          <p:cNvPr id="6" name="TextBox 5"/>
          <p:cNvSpPr txBox="1"/>
          <p:nvPr/>
        </p:nvSpPr>
        <p:spPr>
          <a:xfrm>
            <a:off x="457200" y="6492240"/>
            <a:ext cx="6400800" cy="274320"/>
          </a:xfrm>
          <a:prstGeom prst="rect">
            <a:avLst/>
          </a:prstGeom>
          <a:noFill/>
        </p:spPr>
        <p:txBody>
          <a:bodyPr wrap="square" anchor="t" lIns="0" rIns="0" tIns="0" bIns="0">
            <a:spAutoFit/>
          </a:bodyPr>
          <a:lstStyle/>
          <a:p>
            <a:pPr algn="l">
              <a:lnSpc>
                <a:spcPct val="115000"/>
              </a:lnSpc>
            </a:pPr>
            <a:r>
              <a:rPr sz="900" b="0" i="0">
                <a:solidFill>
                  <a:srgbClr val="C7CDD6"/>
                </a:solidFill>
                <a:latin typeface="Yu Gothic"/>
              </a:rPr>
              <a:t>一般社団法人 ペット防災アドバイザー協会　PDPA-101</a:t>
            </a:r>
          </a:p>
        </p:txBody>
      </p:sp>
      <p:sp>
        <p:nvSpPr>
          <p:cNvPr id="7" name="TextBox 6"/>
          <p:cNvSpPr txBox="1"/>
          <p:nvPr/>
        </p:nvSpPr>
        <p:spPr>
          <a:xfrm>
            <a:off x="11521440" y="6492240"/>
            <a:ext cx="457200" cy="274320"/>
          </a:xfrm>
          <a:prstGeom prst="rect">
            <a:avLst/>
          </a:prstGeom>
          <a:noFill/>
        </p:spPr>
        <p:txBody>
          <a:bodyPr wrap="square" anchor="t" lIns="0" rIns="0" tIns="0" bIns="0">
            <a:spAutoFit/>
          </a:bodyPr>
          <a:lstStyle/>
          <a:p>
            <a:pPr algn="r">
              <a:lnSpc>
                <a:spcPct val="115000"/>
              </a:lnSpc>
            </a:pPr>
            <a:r>
              <a:rPr sz="900" b="0" i="0">
                <a:solidFill>
                  <a:srgbClr val="C7CDD6"/>
                </a:solidFill>
                <a:latin typeface="Yu Gothic"/>
              </a:rPr>
              <a:t>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