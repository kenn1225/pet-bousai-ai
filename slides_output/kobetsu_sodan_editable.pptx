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9CD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Yu Gothic"/>
              </a:rPr>
              <a:t>個別相談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2F6B4F"/>
                </a:solidFill>
                <a:latin typeface="Yu Gothic"/>
              </a:rPr>
              <a:t>本日はありがとうございます</a:t>
            </a:r>
          </a:p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2F6B4F"/>
                </a:solidFill>
                <a:latin typeface="Yu Gothic"/>
              </a:rPr>
              <a:t>第二の人生を、具体的な一歩に変える45分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3904" y="5120640"/>
            <a:ext cx="4572000" cy="640080"/>
          </a:xfrm>
          <a:prstGeom prst="roundRect">
            <a:avLst>
              <a:gd name="adj" fmla="val 50000"/>
            </a:avLst>
          </a:prstGeom>
          <a:solidFill>
            <a:srgbClr val="9CD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ペット防災アドバイザー養成講座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振り返り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F6B4F"/>
                </a:solidFill>
                <a:latin typeface="Yu Gothic"/>
              </a:rPr>
              <a:t>3日間のライブで学んだこと　いのちを守る5つの重要行動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05156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267712"/>
            <a:ext cx="457200" cy="457200"/>
          </a:xfrm>
          <a:prstGeom prst="ellipse">
            <a:avLst/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9418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2A26"/>
                </a:solidFill>
                <a:latin typeface="Yu Gothic"/>
              </a:rPr>
              <a:t>身元情報の整備 - 迷子対策・マイクロチップ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44368"/>
            <a:ext cx="105156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44368"/>
            <a:ext cx="9418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2A26"/>
                </a:solidFill>
                <a:latin typeface="Yu Gothic"/>
              </a:rPr>
              <a:t>防災バッグの準備 - 備蓄・避難グッズ一式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39896"/>
            <a:ext cx="105156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39896"/>
            <a:ext cx="9418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2A26"/>
                </a:solidFill>
                <a:latin typeface="Yu Gothic"/>
              </a:rPr>
              <a:t>避難先の事前確認 - ペット可避難所リスト化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35424"/>
            <a:ext cx="105156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654296"/>
            <a:ext cx="457200" cy="457200"/>
          </a:xfrm>
          <a:prstGeom prst="ellipse">
            <a:avLst/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35424"/>
            <a:ext cx="9418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2A26"/>
                </a:solidFill>
                <a:latin typeface="Yu Gothic"/>
              </a:rPr>
              <a:t>日頃のトレーニング - キャリー慣れ・コマンド練習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30952"/>
            <a:ext cx="105156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449824"/>
            <a:ext cx="457200" cy="457200"/>
          </a:xfrm>
          <a:prstGeom prst="ellipse">
            <a:avLst/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30952"/>
            <a:ext cx="9418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2A26"/>
                </a:solidFill>
                <a:latin typeface="Yu Gothic"/>
              </a:rPr>
              <a:t>地域ネットワーク - 近隣・SNSでつながる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6E"/>
                </a:solidFill>
                <a:latin typeface="Yu Gothic"/>
              </a:rPr>
              <a:t>知識は手に入れた。次は、地域に広める側になる番です。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見過ごされているギャップ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22A26"/>
                </a:solidFill>
                <a:latin typeface="Yu Gothic"/>
              </a:rPr>
              <a:t>人の防災は進んでいる。でも、ペット防災はほぼ手つかず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>
                <a:solidFill>
                  <a:srgbClr val="9CD3B4"/>
                </a:solidFill>
                <a:latin typeface="Yu Gothic"/>
              </a:rPr>
              <a:t>78%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22A26"/>
                </a:solidFill>
                <a:latin typeface="Yu Gothic"/>
              </a:rPr>
              <a:t>人の防災意識 - 多くの地域で防災教育・避難訓練が浸透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28600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4688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>
                <a:solidFill>
                  <a:srgbClr val="9CD3B4"/>
                </a:solidFill>
                <a:latin typeface="Yu Gothic"/>
              </a:rP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977639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222A26"/>
                </a:solidFill>
                <a:latin typeface="Yu Gothic"/>
              </a:rPr>
              <a:t>ペット防災の浸透率 - ペットオーナーですら具体的な対策を知らない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6E"/>
                </a:solidFill>
                <a:latin typeface="Yu Gothic"/>
              </a:rPr>
              <a:t>文部科学省「地震調査研究推進本部」データ準拠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760720"/>
            <a:ext cx="12191695" cy="91440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5760720"/>
            <a:ext cx="121916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このギャップこそが、あなたの出番です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講座の価値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80" y="1234440"/>
            <a:ext cx="173736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4F9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F9C74"/>
                </a:solidFill>
                <a:latin typeface="Yu Gothic"/>
              </a:rPr>
              <a:t>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515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01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1">
                <a:solidFill>
                  <a:srgbClr val="222A26"/>
                </a:solidFill>
                <a:latin typeface="Yu Gothic"/>
              </a:rPr>
              <a:t>ペット防災アドバイザー養成講座</a:t>
            </a:r>
          </a:p>
          <a:p>
            <a:pPr algn="ctr">
              <a:lnSpc>
                <a:spcPct val="130000"/>
              </a:lnSpc>
            </a:pPr>
            <a:r>
              <a:rPr sz="2600" b="1">
                <a:solidFill>
                  <a:srgbClr val="222A26"/>
                </a:solidFill>
                <a:latin typeface="Yu Gothic"/>
              </a:rPr>
              <a:t>知識を「資格」に変え、地域で活動できる自分になる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347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教育者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8387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地域コーディネーター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4427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アドバイザー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0467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社会貢献者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2F6B4F"/>
                </a:solidFill>
                <a:latin typeface="Yu Gothic"/>
              </a:rPr>
              <a:t>カリキュラム概要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321040"/>
              </a:tblGrid>
              <a:tr h="87782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 anchor="ctr" marL="182880" marR="182880">
                    <a:solidFill>
                      <a:srgbClr val="4F9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 anchor="ctr" marL="182880" marR="182880">
                    <a:solidFill>
                      <a:srgbClr val="4F9C7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A26"/>
                          </a:solidFill>
                          <a:latin typeface="Yu Gothic"/>
                        </a:rPr>
                        <a:t>講義回数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A26"/>
                          </a:solidFill>
                          <a:latin typeface="Yu Gothic"/>
                        </a:rPr>
                        <a:t>全12回（各90〜120分）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A26"/>
                          </a:solidFill>
                          <a:latin typeface="Yu Gothic"/>
                        </a:rPr>
                        <a:t>受講方法</a:t>
                      </a:r>
                    </a:p>
                  </a:txBody>
                  <a:tcPr anchor="ctr" marL="182880" marR="182880"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A26"/>
                          </a:solidFill>
                          <a:latin typeface="Yu Gothic"/>
                        </a:rPr>
                        <a:t>Zoomリアルタイム受講／アーカイブ視聴</a:t>
                      </a:r>
                    </a:p>
                  </a:txBody>
                  <a:tcPr anchor="ctr" marL="182880" marR="182880">
                    <a:solidFill>
                      <a:srgbClr val="F0FAF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A26"/>
                          </a:solidFill>
                          <a:latin typeface="Yu Gothic"/>
                        </a:rPr>
                        <a:t>特別講座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A26"/>
                          </a:solidFill>
                          <a:latin typeface="Yu Gothic"/>
                        </a:rPr>
                        <a:t>犬の防災トレーニング／猫の防災トレーニング（オンライン実技）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A26"/>
                          </a:solidFill>
                          <a:latin typeface="Yu Gothic"/>
                        </a:rPr>
                        <a:t>認定</a:t>
                      </a:r>
                    </a:p>
                  </a:txBody>
                  <a:tcPr anchor="ctr" marL="182880" marR="182880"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A26"/>
                          </a:solidFill>
                          <a:latin typeface="Yu Gothic"/>
                        </a:rPr>
                        <a:t>卒業試験合格で認定証を発行（一般社団法人ペット防災アドバイザー協会）</a:t>
                      </a:r>
                    </a:p>
                  </a:txBody>
                  <a:tcPr anchor="ctr" marL="182880" marR="182880"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2F6B4F"/>
                </a:solidFill>
                <a:latin typeface="Yu Gothic"/>
              </a:rPr>
              <a:t>卒業後にできること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54480"/>
            <a:ext cx="50292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2F6B4F"/>
                </a:solidFill>
                <a:latin typeface="Yu Gothic"/>
              </a:rPr>
              <a:t>① セミナー・講座の定期開催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4480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222A26"/>
                </a:solidFill>
                <a:latin typeface="Yu Gothic"/>
              </a:rPr>
              <a:t>・地域の公民館・コミュニティセンターで開催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222A26"/>
                </a:solidFill>
                <a:latin typeface="Yu Gothic"/>
              </a:rPr>
              <a:t>・参加費として感謝の報酬を受け取る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554480"/>
            <a:ext cx="50292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8308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2F6B4F"/>
                </a:solidFill>
                <a:latin typeface="Yu Gothic"/>
              </a:rPr>
              <a:t>② 個別コンサルティング＆プラン作成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651760"/>
            <a:ext cx="4480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222A26"/>
                </a:solidFill>
                <a:latin typeface="Yu Gothic"/>
              </a:rPr>
              <a:t>・ペットの種類・性格に合わせた防災プランを提案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222A26"/>
                </a:solidFill>
                <a:latin typeface="Yu Gothic"/>
              </a:rPr>
              <a:t>・コンサルティング費用として報酬を受け取る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4F9C74"/>
                </a:solidFill>
                <a:latin typeface="Yu Gothic"/>
              </a:rPr>
              <a:t>感謝の報酬を得ながら、地域に必要とされる存在に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93208" y="118872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ご案内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2F6B4F"/>
                </a:solidFill>
                <a:latin typeface="Yu Gothic"/>
              </a:rPr>
              <a:t>受講料　330,000円（税込）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886200"/>
            <a:ext cx="5760720" cy="31750"/>
          </a:xfrm>
          <a:prstGeom prst="rect">
            <a:avLst/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6B726E"/>
                </a:solidFill>
                <a:latin typeface="Yu Gothic"/>
              </a:rPr>
              <a:t>全12回＋特別講座2つ＋認定料込み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今日だけの特典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105156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2423160"/>
            <a:ext cx="731520" cy="731520"/>
          </a:xfrm>
          <a:prstGeom prst="ellipse">
            <a:avLst/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148840"/>
            <a:ext cx="87782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22A26"/>
                </a:solidFill>
                <a:latin typeface="Yu Gothic"/>
              </a:rPr>
              <a:t>本来10,000円の「45分間ZOOM個別相談」が、今日は無料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F9C74"/>
                </a:solidFill>
                <a:latin typeface="Yu Gothic"/>
              </a:rPr>
              <a:t>＝ この時間そのものが、今日だけの特典です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93208" y="82296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ご案内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222A26"/>
                </a:solidFill>
                <a:latin typeface="Yu Gothic"/>
              </a:rPr>
              <a:t>本日のご案内は、最終ライブ配信日より</a:t>
            </a:r>
          </a:p>
          <a:p>
            <a:pPr algn="ctr"/>
            <a:r>
              <a:rPr sz="4000" b="1">
                <a:solidFill>
                  <a:srgbClr val="4F9C74"/>
                </a:solidFill>
                <a:latin typeface="Yu Gothic"/>
              </a:rPr>
              <a:t>5日間限定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38912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B726E"/>
                </a:solidFill>
                <a:latin typeface="Yu Gothic"/>
              </a:rPr>
              <a:t>迷っている時間が、一番もったいない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46304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2F6B4F"/>
                </a:solidFill>
                <a:latin typeface="Yu Gothic"/>
              </a:rPr>
              <a:t>今日、ここで一歩を踏み出しませんか</a:t>
            </a:r>
          </a:p>
        </p:txBody>
      </p:sp>
      <p:sp>
        <p:nvSpPr>
          <p:cNvPr id="3" name="Oval 2"/>
          <p:cNvSpPr/>
          <p:nvPr/>
        </p:nvSpPr>
        <p:spPr>
          <a:xfrm>
            <a:off x="5641848" y="2834640"/>
            <a:ext cx="914400" cy="914400"/>
          </a:xfrm>
          <a:prstGeom prst="ellipse">
            <a:avLst/>
          </a:prstGeom>
          <a:solidFill>
            <a:srgbClr val="4F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・・・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222A26"/>
                </a:solidFill>
                <a:latin typeface="Yu Gothic"/>
              </a:rPr>
              <a:t>お申し込み方法のご案内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