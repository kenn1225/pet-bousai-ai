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一般社団法人 ペット防災アドバイザー協会　認定後サポート体制　PDPA-100S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卒業後に授与される認定証と認定バッジ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27167" cy="3931920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cert_official.jp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2017395" y="1600200"/>
            <a:ext cx="2563977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017395" y="1600200"/>
            <a:ext cx="2563977" cy="365760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7395" y="1600200"/>
            <a:ext cx="2563977" cy="3657600"/>
          </a:xfrm>
          <a:prstGeom prst="rect">
            <a:avLst/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5522976"/>
            <a:ext cx="5227167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22976"/>
            <a:ext cx="52271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認定証（A4縦・全員に授与）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463040"/>
            <a:ext cx="5227167" cy="3931920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3550" y="1645920"/>
            <a:ext cx="3017520" cy="3584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40347" y="1739115"/>
            <a:ext cx="503925" cy="93195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3550" y="1921922"/>
            <a:ext cx="3017520" cy="65953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181" y="1994471"/>
            <a:ext cx="514439" cy="5144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5685" y="1987876"/>
            <a:ext cx="2193737" cy="540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18" name="Picture 17" descr="id_portrait.jpg"/>
          <p:cNvPicPr>
            <a:picLocks noChangeAspect="1"/>
          </p:cNvPicPr>
          <p:nvPr/>
        </p:nvPicPr>
        <p:blipFill>
          <a:blip r:embed="rId4"/>
          <a:srcRect l="28948" r="28948"/>
          <a:stretch>
            <a:fillRect/>
          </a:stretch>
        </p:blipFill>
        <p:spPr>
          <a:xfrm>
            <a:off x="7528391" y="2710501"/>
            <a:ext cx="932413" cy="120795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528391" y="2710501"/>
            <a:ext cx="932413" cy="1207958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0558" y="2728423"/>
            <a:ext cx="1665671" cy="200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0558" y="2947074"/>
            <a:ext cx="1665671" cy="182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ヤマダ タロウ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0558" y="3129881"/>
            <a:ext cx="1665671" cy="401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0558" y="3606613"/>
            <a:ext cx="1665671" cy="127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0558" y="3678302"/>
            <a:ext cx="1665671" cy="236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青バッジ（卒業時）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8391" y="4047500"/>
            <a:ext cx="684977" cy="21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2596" y="4047500"/>
            <a:ext cx="2003633" cy="21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PDPAA-2026-1234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8391" y="4284073"/>
            <a:ext cx="684977" cy="21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2596" y="4284073"/>
            <a:ext cx="2003633" cy="21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2026年6月12日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8391" y="4520647"/>
            <a:ext cx="684977" cy="21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有効期限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2596" y="4520647"/>
            <a:ext cx="2003633" cy="21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2028年6月11日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83550" y="4918521"/>
            <a:ext cx="3017520" cy="31184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3550" y="4918521"/>
            <a:ext cx="3017520" cy="3118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本証の写真・記載事項は見本です　SAMPLE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8727" y="5522976"/>
            <a:ext cx="5227167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727" y="5522976"/>
            <a:ext cx="52271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認定バッジ（IDカード型・全員に授与）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出典：協会 認定制度規程 Ver.1.0（協会推奨）／氏名・認定番号・写真はすべて架空の見本です（実際の仕様は別途決定）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活動を続けるほど、バッジが上がります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認定バッジは3段階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399434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1664" y="1558137"/>
            <a:ext cx="567705" cy="95097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44675"/>
            <a:ext cx="3399434" cy="67299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79" y="1818705"/>
            <a:ext cx="524938" cy="5249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8066" y="1811975"/>
            <a:ext cx="2471388" cy="55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13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5000"/>
              </a:lnSpc>
            </a:pPr>
            <a:r>
              <a:rPr sz="1013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11" name="Picture 10" descr="id_portrait.jpg"/>
          <p:cNvPicPr>
            <a:picLocks noChangeAspect="1"/>
          </p:cNvPicPr>
          <p:nvPr/>
        </p:nvPicPr>
        <p:blipFill>
          <a:blip r:embed="rId3"/>
          <a:srcRect l="26758" r="26758"/>
          <a:stretch>
            <a:fillRect/>
          </a:stretch>
        </p:blipFill>
        <p:spPr>
          <a:xfrm>
            <a:off x="848972" y="2549347"/>
            <a:ext cx="1050425" cy="123261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48972" y="2549347"/>
            <a:ext cx="1050425" cy="1232611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5573" y="2567635"/>
            <a:ext cx="1876487" cy="204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7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5573" y="2790748"/>
            <a:ext cx="1876487" cy="1865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44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ヤマダ タロウ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5573" y="2977286"/>
            <a:ext cx="1876487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45573" y="3463747"/>
            <a:ext cx="1876487" cy="127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5573" y="3536899"/>
            <a:ext cx="1876487" cy="241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青バッジ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972" y="3913632"/>
            <a:ext cx="771671" cy="22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3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836" y="3913632"/>
            <a:ext cx="2257224" cy="22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PDPAA-2026-1234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02428"/>
            <a:ext cx="3399434" cy="318211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02428"/>
            <a:ext cx="3399434" cy="318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13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卒業時に授与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266944"/>
            <a:ext cx="3399434" cy="42062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66944"/>
            <a:ext cx="33994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青バッジ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26382" y="3145536"/>
            <a:ext cx="228600" cy="292608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6130" y="1463040"/>
            <a:ext cx="3399434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11994" y="1558137"/>
            <a:ext cx="567705" cy="95097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6130" y="1744675"/>
            <a:ext cx="3399434" cy="672998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09" y="1818705"/>
            <a:ext cx="524938" cy="52493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98396" y="1811975"/>
            <a:ext cx="2471388" cy="55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30" name="Picture 29" descr="id_portrait.jpg"/>
          <p:cNvPicPr>
            <a:picLocks noChangeAspect="1"/>
          </p:cNvPicPr>
          <p:nvPr/>
        </p:nvPicPr>
        <p:blipFill>
          <a:blip r:embed="rId3"/>
          <a:srcRect l="26758" r="26758"/>
          <a:stretch>
            <a:fillRect/>
          </a:stretch>
        </p:blipFill>
        <p:spPr>
          <a:xfrm>
            <a:off x="4559302" y="2549347"/>
            <a:ext cx="1050425" cy="1232611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59302" y="2549347"/>
            <a:ext cx="1050425" cy="1232611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5903" y="2567635"/>
            <a:ext cx="1876487" cy="204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7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55903" y="2790748"/>
            <a:ext cx="1876487" cy="1865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44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ヤマダ タロウ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55903" y="2977286"/>
            <a:ext cx="1876487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55903" y="3463747"/>
            <a:ext cx="1876487" cy="12700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55903" y="3536899"/>
            <a:ext cx="1876487" cy="241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銀バッジ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9302" y="3913632"/>
            <a:ext cx="771671" cy="22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3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5166" y="3913632"/>
            <a:ext cx="2257224" cy="22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PDPAA-2026-1234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96130" y="4802428"/>
            <a:ext cx="3399434" cy="318211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6130" y="4802428"/>
            <a:ext cx="3399434" cy="318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活動100ポイント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96130" y="5266944"/>
            <a:ext cx="3399434" cy="420624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6130" y="5266944"/>
            <a:ext cx="33994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銀バッジ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836712" y="3145536"/>
            <a:ext cx="228600" cy="292608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06460" y="1463040"/>
            <a:ext cx="3399434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2324" y="1558137"/>
            <a:ext cx="567705" cy="95097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6460" y="1744675"/>
            <a:ext cx="3399434" cy="67299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Picture 46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839" y="1818705"/>
            <a:ext cx="524938" cy="52493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908726" y="1811975"/>
            <a:ext cx="2471388" cy="55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49" name="Picture 48" descr="id_portrait.jpg"/>
          <p:cNvPicPr>
            <a:picLocks noChangeAspect="1"/>
          </p:cNvPicPr>
          <p:nvPr/>
        </p:nvPicPr>
        <p:blipFill>
          <a:blip r:embed="rId3"/>
          <a:srcRect l="26758" r="26758"/>
          <a:stretch>
            <a:fillRect/>
          </a:stretch>
        </p:blipFill>
        <p:spPr>
          <a:xfrm>
            <a:off x="8269632" y="2549347"/>
            <a:ext cx="1050425" cy="1232611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8269632" y="2549347"/>
            <a:ext cx="1050425" cy="1232611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6233" y="2567635"/>
            <a:ext cx="1876487" cy="204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7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6233" y="2790748"/>
            <a:ext cx="1876487" cy="1865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44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ヤマダ タロウ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6233" y="2977286"/>
            <a:ext cx="1876487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66233" y="3463747"/>
            <a:ext cx="1876487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66233" y="3536899"/>
            <a:ext cx="1876487" cy="241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金バッジ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9632" y="3913632"/>
            <a:ext cx="771671" cy="22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3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85496" y="3913632"/>
            <a:ext cx="2257224" cy="22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PDPAA-2026-1234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06460" y="4802428"/>
            <a:ext cx="3399434" cy="31821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06460" y="4802428"/>
            <a:ext cx="3399434" cy="318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13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認定講師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06460" y="5266944"/>
            <a:ext cx="339943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06460" y="5266944"/>
            <a:ext cx="33994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金バッジ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出典：協会 活動実績ポイント制度・バッジ制度 Ver.1.0（協会推奨）／氏名・認定番号・写真は架空の見本です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オプション物品（有料・公式ロゴ入り）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39333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mock_armband.jpg"/>
          <p:cNvPicPr>
            <a:picLocks noChangeAspect="1"/>
          </p:cNvPicPr>
          <p:nvPr/>
        </p:nvPicPr>
        <p:blipFill>
          <a:blip r:embed="rId2"/>
          <a:srcRect l="10310" r="10310"/>
          <a:stretch>
            <a:fillRect/>
          </a:stretch>
        </p:blipFill>
        <p:spPr>
          <a:xfrm>
            <a:off x="685800" y="1463040"/>
            <a:ext cx="3393338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1463040"/>
            <a:ext cx="3393338" cy="233172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94760"/>
            <a:ext cx="3393338" cy="51206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339333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腕章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453128"/>
            <a:ext cx="29178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地域イベント・防災訓練での識別に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463040"/>
            <a:ext cx="339333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mock_vest.jpg"/>
          <p:cNvPicPr>
            <a:picLocks noChangeAspect="1"/>
          </p:cNvPicPr>
          <p:nvPr/>
        </p:nvPicPr>
        <p:blipFill>
          <a:blip r:embed="rId3"/>
          <a:srcRect l="10310" r="10310"/>
          <a:stretch>
            <a:fillRect/>
          </a:stretch>
        </p:blipFill>
        <p:spPr>
          <a:xfrm>
            <a:off x="4399178" y="1463040"/>
            <a:ext cx="3393338" cy="2331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99178" y="1463040"/>
            <a:ext cx="3393338" cy="233172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9178" y="3794760"/>
            <a:ext cx="3393338" cy="51206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178" y="3794760"/>
            <a:ext cx="339333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専用ベスト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4453128"/>
            <a:ext cx="29178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避難所支援や屋外活動での視認性確保に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2556" y="1463040"/>
            <a:ext cx="339333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mock_cap.jpg"/>
          <p:cNvPicPr>
            <a:picLocks noChangeAspect="1"/>
          </p:cNvPicPr>
          <p:nvPr/>
        </p:nvPicPr>
        <p:blipFill>
          <a:blip r:embed="rId4"/>
          <a:srcRect l="10310" r="10310"/>
          <a:stretch>
            <a:fillRect/>
          </a:stretch>
        </p:blipFill>
        <p:spPr>
          <a:xfrm>
            <a:off x="8112556" y="1463040"/>
            <a:ext cx="3393338" cy="23317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12556" y="1463040"/>
            <a:ext cx="3393338" cy="233172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2556" y="3794760"/>
            <a:ext cx="3393338" cy="51206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2556" y="3794760"/>
            <a:ext cx="339333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帽子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0300" y="4453128"/>
            <a:ext cx="29178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屋外イベント・炎天下での活動に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出典：協会 認定制度規程 Ver.1.0（協会推奨）／画像は公式ロゴを用いた見本イメージです（実際の仕様・価格は別途決定）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サポートは行動指針と同じ3本柱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362858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supplies_stockpile.jpg"/>
          <p:cNvPicPr>
            <a:picLocks noChangeAspect="1"/>
          </p:cNvPicPr>
          <p:nvPr/>
        </p:nvPicPr>
        <p:blipFill>
          <a:blip r:embed="rId2"/>
          <a:srcRect l="1073" r="1073"/>
          <a:stretch>
            <a:fillRect/>
          </a:stretch>
        </p:blipFill>
        <p:spPr>
          <a:xfrm>
            <a:off x="685800" y="1463040"/>
            <a:ext cx="3362858" cy="18745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3337559"/>
            <a:ext cx="336285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337559"/>
            <a:ext cx="30336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備える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977640"/>
            <a:ext cx="2850794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教材と知識が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古くならない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仕組みを協会が持つ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1463040"/>
            <a:ext cx="3362858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elter_pet_cage.jpg"/>
          <p:cNvPicPr>
            <a:picLocks noChangeAspect="1"/>
          </p:cNvPicPr>
          <p:nvPr/>
        </p:nvPicPr>
        <p:blipFill>
          <a:blip r:embed="rId3"/>
          <a:srcRect l="1073" r="1073"/>
          <a:stretch>
            <a:fillRect/>
          </a:stretch>
        </p:blipFill>
        <p:spPr>
          <a:xfrm>
            <a:off x="4414418" y="1463040"/>
            <a:ext cx="3362858" cy="1874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14418" y="3337559"/>
            <a:ext cx="336285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9010" y="3337559"/>
            <a:ext cx="30336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450" y="3977640"/>
            <a:ext cx="2850794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事故と災害に、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認定者がひとりで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向き合わない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463040"/>
            <a:ext cx="3362858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instructor_teaching.jpg"/>
          <p:cNvPicPr>
            <a:picLocks noChangeAspect="1"/>
          </p:cNvPicPr>
          <p:nvPr/>
        </p:nvPicPr>
        <p:blipFill>
          <a:blip r:embed="rId4"/>
          <a:srcRect l="1073" r="1073"/>
          <a:stretch>
            <a:fillRect/>
          </a:stretch>
        </p:blipFill>
        <p:spPr>
          <a:xfrm>
            <a:off x="8143036" y="1463040"/>
            <a:ext cx="3362858" cy="187451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143036" y="3337559"/>
            <a:ext cx="336285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7628" y="3337559"/>
            <a:ext cx="30336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つなぐ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9068" y="3977640"/>
            <a:ext cx="2850794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最初の一歩と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地域との接点を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協会がつくる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出典：協会 認定後サポート規程 Ver.1.0（協会推奨）／行動指針「備える・守る・つなぐ」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つなぐ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最初の一歩を、ひとりにしない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instructor_teaching.jpg"/>
          <p:cNvPicPr>
            <a:picLocks noChangeAspect="1"/>
          </p:cNvPicPr>
          <p:nvPr/>
        </p:nvPicPr>
        <p:blipFill>
          <a:blip r:embed="rId2"/>
          <a:srcRect l="26382" r="26382"/>
          <a:stretch>
            <a:fillRect/>
          </a:stretch>
        </p:blipFill>
        <p:spPr>
          <a:xfrm>
            <a:off x="7665415" y="1463040"/>
            <a:ext cx="3840480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65415" y="1463040"/>
            <a:ext cx="3840480" cy="443484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6568135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6568135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463040"/>
            <a:ext cx="62389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初回デビュー伴走メンター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94560"/>
            <a:ext cx="6056071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卒業後の最初の1回だけ、認定講師が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Zoomで同席し、企画と講評を行う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17620"/>
            <a:ext cx="6568135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817620"/>
            <a:ext cx="6568135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17620"/>
            <a:ext cx="62389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共同開催マッチング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49140"/>
            <a:ext cx="6056071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近隣の認定者2〜3名をチーム化し、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シニア層と専門職を協会が組ませる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出典：協会 認定後サポート規程 Ver.1.0（協会推奨）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つなぐ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協会が「信用」を貸します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location_townhall.jpg"/>
          <p:cNvPicPr>
            <a:picLocks noChangeAspect="1"/>
          </p:cNvPicPr>
          <p:nvPr/>
        </p:nvPicPr>
        <p:blipFill>
          <a:blip r:embed="rId2"/>
          <a:srcRect l="28069" r="28069"/>
          <a:stretch>
            <a:fillRect/>
          </a:stretch>
        </p:blipFill>
        <p:spPr>
          <a:xfrm>
            <a:off x="7939735" y="1463040"/>
            <a:ext cx="3566160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39735" y="1463040"/>
            <a:ext cx="3566160" cy="443484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842455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63040"/>
            <a:ext cx="651327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公式文書パック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66595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協会名義の依頼文・企画書ひな型・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活動証明書・保険加入証明を発行。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個人名では開かない窓口が開きます。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03320"/>
            <a:ext cx="6842455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703320"/>
            <a:ext cx="651327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認定者マップ（同意した項目のみ公開）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66595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既定は非公開。項目ごとに同意を取り、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撤回はワンクリック。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連絡は協会経由フォームに一本化します。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出典：協会 認定後サポート規程／個人情報の取扱い規程 Ver.1.0（協会推奨）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事故と災害に、備えておく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27167" cy="4434840"/>
          </a:xfrm>
          <a:prstGeom prst="roundRect">
            <a:avLst>
              <a:gd name="adj" fmla="val 5000"/>
            </a:avLst>
          </a:prstGeom>
          <a:solidFill>
            <a:srgbClr val="24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first_aid_cpr.jpg"/>
          <p:cNvPicPr>
            <a:picLocks noChangeAspect="1"/>
          </p:cNvPicPr>
          <p:nvPr/>
        </p:nvPicPr>
        <p:blipFill>
          <a:blip r:embed="rId2"/>
          <a:srcRect t="21938" b="21938"/>
          <a:stretch>
            <a:fillRect/>
          </a:stretch>
        </p:blipFill>
        <p:spPr>
          <a:xfrm>
            <a:off x="685800" y="1463040"/>
            <a:ext cx="5227167" cy="1600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3063240"/>
            <a:ext cx="5227167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063240"/>
            <a:ext cx="489798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団体賠償責任保険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749040"/>
            <a:ext cx="471510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保険料は認定者負担。協会は手数料を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上乗せしません。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講座を主催する認定者は加入必須、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啓発のみの認定者は任意です。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463040"/>
            <a:ext cx="5227167" cy="4434840"/>
          </a:xfrm>
          <a:prstGeom prst="roundRect">
            <a:avLst>
              <a:gd name="adj" fmla="val 5000"/>
            </a:avLst>
          </a:prstGeom>
          <a:solidFill>
            <a:srgbClr val="24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elter_pet_cage.jpg"/>
          <p:cNvPicPr>
            <a:picLocks noChangeAspect="1"/>
          </p:cNvPicPr>
          <p:nvPr/>
        </p:nvPicPr>
        <p:blipFill>
          <a:blip r:embed="rId3"/>
          <a:srcRect t="21938" b="21938"/>
          <a:stretch>
            <a:fillRect/>
          </a:stretch>
        </p:blipFill>
        <p:spPr>
          <a:xfrm>
            <a:off x="6278727" y="1463040"/>
            <a:ext cx="5227167" cy="1600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78727" y="3063240"/>
            <a:ext cx="5227167" cy="5120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3319" y="3063240"/>
            <a:ext cx="489798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発災時プロトコル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749040"/>
            <a:ext cx="471510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災害が起きたとき「今できること」と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「してはいけないこと」を段階配信。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獣医療・避難所運営の判断には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立ち入らず、専門職へ橋渡しします。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4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出典：協会 認定後サポート規程 Ver.1.0（協会推奨）／保険は損害保険会社との協議事項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備える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教材が古くならない仕組み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weather_alert_phone.jpg"/>
          <p:cNvPicPr>
            <a:picLocks noChangeAspect="1"/>
          </p:cNvPicPr>
          <p:nvPr/>
        </p:nvPicPr>
        <p:blipFill>
          <a:blip r:embed="rId2"/>
          <a:srcRect l="28069" r="28069"/>
          <a:stretch>
            <a:fillRect/>
          </a:stretch>
        </p:blipFill>
        <p:spPr>
          <a:xfrm>
            <a:off x="7939735" y="1463040"/>
            <a:ext cx="3566160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39735" y="1463040"/>
            <a:ext cx="3566160" cy="443484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6842455" cy="1048512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731264"/>
            <a:ext cx="512064" cy="51206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63040"/>
            <a:ext cx="5562295" cy="1048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協会が公的資料を毎日監視する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6144"/>
            <a:ext cx="6842455" cy="1048512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944368"/>
            <a:ext cx="512064" cy="51206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76144"/>
            <a:ext cx="5562295" cy="1048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変更を検知したら該当ページを特定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89248"/>
            <a:ext cx="6842455" cy="1048512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4157472"/>
            <a:ext cx="512064" cy="51206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89248"/>
            <a:ext cx="5562295" cy="1048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認定者へ差替えページを配信する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20640"/>
            <a:ext cx="6842455" cy="685800"/>
          </a:xfrm>
          <a:prstGeom prst="roundRect">
            <a:avLst>
              <a:gd name="adj" fmla="val 8000"/>
            </a:avLst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63852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2026年は気象庁と環境省で改訂が発生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監視対象：環境省／内閣府（防災担当）／気象庁／総務省消防庁／国土交通省・国土地理院（出典管理台帳 REF-001〜012）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活動を記録すれば、あとは自動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certificate_badge.jpg"/>
          <p:cNvPicPr>
            <a:picLocks noChangeAspect="1"/>
          </p:cNvPicPr>
          <p:nvPr/>
        </p:nvPicPr>
        <p:blipFill>
          <a:blip r:embed="rId2"/>
          <a:srcRect l="29756" r="29756"/>
          <a:stretch>
            <a:fillRect/>
          </a:stretch>
        </p:blipFill>
        <p:spPr>
          <a:xfrm>
            <a:off x="8214055" y="1463040"/>
            <a:ext cx="3291840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14055" y="1463040"/>
            <a:ext cx="3291840" cy="443484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335572" cy="1417320"/>
          </a:xfrm>
          <a:prstGeom prst="roundRect">
            <a:avLst>
              <a:gd name="adj" fmla="val 10000"/>
            </a:avLst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63040"/>
            <a:ext cx="11892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LINEで</a:t>
            </a:r>
          </a:p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報告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1100" y="1463040"/>
            <a:ext cx="1335572" cy="1417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4252" y="1463040"/>
            <a:ext cx="11892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事務局が</a:t>
            </a:r>
          </a:p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承認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6400" y="1463040"/>
            <a:ext cx="1335572" cy="1417320"/>
          </a:xfrm>
          <a:prstGeom prst="roundRect">
            <a:avLst>
              <a:gd name="adj" fmla="val 10000"/>
            </a:avLst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9552" y="1463040"/>
            <a:ext cx="11892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ポイント</a:t>
            </a:r>
          </a:p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加算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1700" y="1463040"/>
            <a:ext cx="1335572" cy="1417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4852" y="1463040"/>
            <a:ext cx="11892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バッジ</a:t>
            </a:r>
          </a:p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昇格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7000" y="1463040"/>
            <a:ext cx="1335572" cy="1417320"/>
          </a:xfrm>
          <a:prstGeom prst="roundRect">
            <a:avLst>
              <a:gd name="adj" fmla="val 10000"/>
            </a:avLst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0152" y="1463040"/>
            <a:ext cx="11892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受験資格</a:t>
            </a:r>
          </a:p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判定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54680"/>
            <a:ext cx="7116775" cy="12801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300984"/>
            <a:ext cx="66047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卒業後90日オンボーディング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867912"/>
            <a:ext cx="66047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30日=防災計画／60日=5人に伝える／90日=勉強会1回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7116775" cy="12801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764024"/>
            <a:ext cx="66047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年1回の全国事例発表会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330952"/>
            <a:ext cx="66047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優秀事例は翌年度の教材に採録し、提供者をクレジット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出典：協会 活動実績ポイント制度・バッジ制度 Ver.1.0（協会推奨）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導入ロードマップ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423818" cy="2468880"/>
          </a:xfrm>
          <a:prstGeom prst="roundRect">
            <a:avLst>
              <a:gd name="adj" fmla="val 8000"/>
            </a:avLst>
          </a:prstGeom>
          <a:solidFill>
            <a:srgbClr val="24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27632"/>
            <a:ext cx="29117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21408"/>
            <a:ext cx="29117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〜1か月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33472"/>
            <a:ext cx="291175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同意フォーム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活動報告フォーム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ポイント集計とLINE通知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2468880"/>
          </a:xfrm>
          <a:prstGeom prst="roundRect">
            <a:avLst>
              <a:gd name="adj" fmla="val 8000"/>
            </a:avLst>
          </a:prstGeom>
          <a:solidFill>
            <a:srgbClr val="24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9970" y="1627632"/>
            <a:ext cx="29117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970" y="2121408"/>
            <a:ext cx="29117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〜3か月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9970" y="2633472"/>
            <a:ext cx="291175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出典アップデート通知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保険の加入証明を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自動で発行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2076" y="1463040"/>
            <a:ext cx="3423818" cy="2468880"/>
          </a:xfrm>
          <a:prstGeom prst="roundRect">
            <a:avLst>
              <a:gd name="adj" fmla="val 8000"/>
            </a:avLst>
          </a:prstGeom>
          <a:solidFill>
            <a:srgbClr val="24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8108" y="1627632"/>
            <a:ext cx="29117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8108" y="2121408"/>
            <a:ext cx="29117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〜6か月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8108" y="2633472"/>
            <a:ext cx="291175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認定者マップの公開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指名紹介と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共同開催の仲介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330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覚えること 3つ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98848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45312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保険料は認定者負担。開催する人は加入必須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956048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91032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公開するのは、同意した項目だけ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413248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536752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活動報告はシステムが集計する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4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出典：協会公式教育プログラム Ver.1.0　教材コード PDPA-100S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C9D2DD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