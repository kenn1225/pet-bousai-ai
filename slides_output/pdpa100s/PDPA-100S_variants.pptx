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変更案　どちらを採用しますか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認定証：レイアウト2案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181447" cy="3877056"/>
          </a:xfrm>
          <a:prstGeom prst="rect">
            <a:avLst/>
          </a:prstGeom>
          <a:solidFill>
            <a:srgbClr val="FFFFFF"/>
          </a:solidFill>
          <a:ln w="508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3" y="1579351"/>
            <a:ext cx="4870560" cy="3644432"/>
          </a:xfrm>
          <a:prstGeom prst="rect">
            <a:avLst/>
          </a:prstGeom>
          <a:noFill/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70779" y="1664646"/>
            <a:ext cx="145080" cy="14508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5437187" y="1664646"/>
            <a:ext cx="145080" cy="14508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970779" y="4993409"/>
            <a:ext cx="145080" cy="14508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437187" y="4993409"/>
            <a:ext cx="145080" cy="14508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22" y="1676278"/>
            <a:ext cx="523402" cy="5234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296607"/>
            <a:ext cx="5181447" cy="504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1" i="0" spc="600">
                <a:solidFill>
                  <a:srgbClr val="17375E"/>
                </a:solidFill>
                <a:latin typeface="BIZ UDPMincho Medium"/>
                <a:ea typeface="BIZ UDPMincho Medium"/>
                <a:cs typeface="BIZ UDPMincho Medium"/>
              </a:rPr>
              <a:t>認 定 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05304"/>
            <a:ext cx="5181447" cy="193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C E R T I F I C A T E   O F   C E R T I F I C A T I O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6222" y="3227100"/>
            <a:ext cx="4300601" cy="348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山田 太郎　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6222" y="3634191"/>
            <a:ext cx="4300601" cy="1524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6222" y="3769888"/>
            <a:ext cx="4300601" cy="659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あなたは本協会所定の課程を修了し、認定試験に合格されたことを認め、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認定ペット防災アドバイザーとしてここに認定します。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6222" y="4448373"/>
            <a:ext cx="3212497" cy="387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　PDPA-A-2026-0001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認定日　　2026年3月31日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6222" y="4952390"/>
            <a:ext cx="3212497" cy="232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一般社団法人 ペット防災アドバイザー協会　代表理事</a:t>
            </a:r>
          </a:p>
        </p:txBody>
      </p:sp>
      <p:sp>
        <p:nvSpPr>
          <p:cNvPr id="20" name="Oval 19"/>
          <p:cNvSpPr/>
          <p:nvPr/>
        </p:nvSpPr>
        <p:spPr>
          <a:xfrm>
            <a:off x="4701421" y="4428987"/>
            <a:ext cx="639714" cy="639714"/>
          </a:xfrm>
          <a:prstGeom prst="ellipse">
            <a:avLst/>
          </a:prstGeom>
          <a:noFill/>
          <a:ln w="31750">
            <a:solidFill>
              <a:srgbClr val="C0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1421" y="4428987"/>
            <a:ext cx="639714" cy="6397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C02A1E"/>
                </a:solidFill>
                <a:latin typeface="BIZ UDPMincho Medium"/>
                <a:ea typeface="BIZ UDPMincho Medium"/>
                <a:cs typeface="BIZ UDPMincho Medium"/>
              </a:rPr>
              <a:t>認定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C02A1E"/>
                </a:solidFill>
                <a:latin typeface="BIZ UDPMincho Medium"/>
                <a:ea typeface="BIZ UDPMincho Medium"/>
                <a:cs typeface="BIZ UDPMincho Medium"/>
              </a:rPr>
              <a:t>之印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486400"/>
            <a:ext cx="5181447" cy="40233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518144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A案　横向き・丸印（現行）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4631" y="1463040"/>
            <a:ext cx="2741078" cy="3877056"/>
          </a:xfrm>
          <a:prstGeom prst="rect">
            <a:avLst/>
          </a:prstGeom>
          <a:solidFill>
            <a:srgbClr val="FFFFFF"/>
          </a:solidFill>
          <a:ln w="508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6863" y="1579351"/>
            <a:ext cx="2576613" cy="3644432"/>
          </a:xfrm>
          <a:prstGeom prst="rect">
            <a:avLst/>
          </a:prstGeom>
          <a:noFill/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7695390" y="1664646"/>
            <a:ext cx="76750" cy="7675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10058199" y="1664646"/>
            <a:ext cx="76750" cy="7675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7695390" y="5061739"/>
            <a:ext cx="76750" cy="7675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10058199" y="5061739"/>
            <a:ext cx="76750" cy="7675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469" y="1676278"/>
            <a:ext cx="523402" cy="52340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44631" y="2296607"/>
            <a:ext cx="2741078" cy="504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10" b="1" i="0" spc="317">
                <a:solidFill>
                  <a:srgbClr val="17375E"/>
                </a:solidFill>
                <a:latin typeface="BIZ UDPMincho Medium"/>
                <a:ea typeface="BIZ UDPMincho Medium"/>
                <a:cs typeface="BIZ UDPMincho Medium"/>
              </a:rPr>
              <a:t>認 定 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4631" y="2905304"/>
            <a:ext cx="2741078" cy="193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76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C E R T I F I C A T E   O F   C E R T I F I C A T I O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7622" y="3227100"/>
            <a:ext cx="2275094" cy="348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8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山田 太郎　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7622" y="3634191"/>
            <a:ext cx="2275094" cy="1524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7622" y="3769888"/>
            <a:ext cx="2275094" cy="659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581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あなたは本協会所定の課程を修了し、認定試験に合格されたことを認め、</a:t>
            </a:r>
          </a:p>
          <a:p>
            <a:pPr algn="l">
              <a:lnSpc>
                <a:spcPct val="150000"/>
              </a:lnSpc>
            </a:pPr>
            <a:r>
              <a:rPr sz="581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認定ペット防災アドバイザーとしてここに認定します。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7622" y="4448373"/>
            <a:ext cx="1699468" cy="387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529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　PDPA-A-2026-0001</a:t>
            </a:r>
          </a:p>
          <a:p>
            <a:pPr algn="l">
              <a:lnSpc>
                <a:spcPct val="145000"/>
              </a:lnSpc>
            </a:pPr>
            <a:r>
              <a:rPr sz="529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認定日　　2026年3月31日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7622" y="4952390"/>
            <a:ext cx="1699468" cy="232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9" b="0" i="0">
                <a:solidFill>
                  <a:srgbClr val="1B222C"/>
                </a:solidFill>
                <a:latin typeface="BIZ UDPMincho Medium"/>
                <a:ea typeface="BIZ UDPMincho Medium"/>
                <a:cs typeface="BIZ UDPMincho Medium"/>
              </a:rPr>
              <a:t>一般社団法人 ペット防災アドバイザー協会　代表理事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68966" y="4428987"/>
            <a:ext cx="639714" cy="639714"/>
          </a:xfrm>
          <a:prstGeom prst="rect">
            <a:avLst/>
          </a:prstGeom>
          <a:noFill/>
          <a:ln w="38100">
            <a:solidFill>
              <a:srgbClr val="C0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68966" y="4428987"/>
            <a:ext cx="639714" cy="6397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81" b="1" i="0">
                <a:solidFill>
                  <a:srgbClr val="C02A1E"/>
                </a:solidFill>
                <a:latin typeface="BIZ UDPMincho Medium"/>
                <a:ea typeface="BIZ UDPMincho Medium"/>
                <a:cs typeface="BIZ UDPMincho Medium"/>
              </a:rPr>
              <a:t>認定</a:t>
            </a:r>
          </a:p>
          <a:p>
            <a:pPr algn="ctr">
              <a:lnSpc>
                <a:spcPct val="110000"/>
              </a:lnSpc>
            </a:pPr>
            <a:r>
              <a:rPr sz="581" b="1" i="0">
                <a:solidFill>
                  <a:srgbClr val="C02A1E"/>
                </a:solidFill>
                <a:latin typeface="BIZ UDPMincho Medium"/>
                <a:ea typeface="BIZ UDPMincho Medium"/>
                <a:cs typeface="BIZ UDPMincho Medium"/>
              </a:rPr>
              <a:t>之印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4447" y="5486400"/>
            <a:ext cx="5181447" cy="40233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4447" y="5486400"/>
            <a:ext cx="518144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B案　A4縦・角印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検討用（PDPA-100S-VAR）／氏名・認定番号は架空の見本です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変更案　段階を色で表す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認定バッジ：4段階のカラー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2522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12999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6559" y="1545336"/>
            <a:ext cx="411480" cy="82296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00784"/>
            <a:ext cx="2512999" cy="56692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64792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9304" y="1755648"/>
            <a:ext cx="18180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11" name="Picture 10" descr="id_portrait.jpg"/>
          <p:cNvPicPr>
            <a:picLocks noChangeAspect="1"/>
          </p:cNvPicPr>
          <p:nvPr/>
        </p:nvPicPr>
        <p:blipFill>
          <a:blip r:embed="rId3"/>
          <a:srcRect l="28678" r="28678"/>
          <a:stretch>
            <a:fillRect/>
          </a:stretch>
        </p:blipFill>
        <p:spPr>
          <a:xfrm>
            <a:off x="813816" y="2377440"/>
            <a:ext cx="786384" cy="1005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3816" y="2377440"/>
            <a:ext cx="786384" cy="1005840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2414016"/>
            <a:ext cx="13974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2651760"/>
            <a:ext cx="13974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3352" y="3072384"/>
            <a:ext cx="1397431" cy="127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73352" y="3145536"/>
            <a:ext cx="13974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青バッジ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511296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3511296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PDPA-A-2026-0001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730752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有効期限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2184" y="3730752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2028年3月31日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18304"/>
            <a:ext cx="2512999" cy="31089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18304"/>
            <a:ext cx="25129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卒業時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57216"/>
            <a:ext cx="2512999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57216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青バッジ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4831" y="1463040"/>
            <a:ext cx="2512999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05590" y="1545336"/>
            <a:ext cx="411480" cy="82296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4831" y="1700784"/>
            <a:ext cx="2512999" cy="566928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271" y="1764792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058335" y="1755648"/>
            <a:ext cx="18180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30" name="Picture 29" descr="id_portrait.jpg"/>
          <p:cNvPicPr>
            <a:picLocks noChangeAspect="1"/>
          </p:cNvPicPr>
          <p:nvPr/>
        </p:nvPicPr>
        <p:blipFill>
          <a:blip r:embed="rId3"/>
          <a:srcRect l="28678" r="28678"/>
          <a:stretch>
            <a:fillRect/>
          </a:stretch>
        </p:blipFill>
        <p:spPr>
          <a:xfrm>
            <a:off x="3582847" y="2377440"/>
            <a:ext cx="786384" cy="100584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582847" y="2377440"/>
            <a:ext cx="786384" cy="1005840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2383" y="2414016"/>
            <a:ext cx="13974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2383" y="2651760"/>
            <a:ext cx="13974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42383" y="3072384"/>
            <a:ext cx="1397431" cy="12700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2383" y="3145536"/>
            <a:ext cx="13974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銀バッジ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2847" y="3511296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1215" y="3511296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PDPA-A-2026-0001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2847" y="3730752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有効期限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1215" y="3730752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2028年3月31日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54831" y="4718304"/>
            <a:ext cx="2512999" cy="310896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4831" y="4718304"/>
            <a:ext cx="25129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活動100pt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54831" y="5157216"/>
            <a:ext cx="2512999" cy="365760"/>
          </a:xfrm>
          <a:prstGeom prst="rect">
            <a:avLst/>
          </a:prstGeom>
          <a:solidFill>
            <a:srgbClr val="9BA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4831" y="5157216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銀バッジ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862" y="1463040"/>
            <a:ext cx="2512999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74621" y="1545336"/>
            <a:ext cx="411480" cy="82296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23862" y="1700784"/>
            <a:ext cx="2512999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Picture 46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302" y="1764792"/>
            <a:ext cx="438912" cy="43891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27366" y="1755648"/>
            <a:ext cx="18180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49" name="Picture 48" descr="id_portrait.jpg"/>
          <p:cNvPicPr>
            <a:picLocks noChangeAspect="1"/>
          </p:cNvPicPr>
          <p:nvPr/>
        </p:nvPicPr>
        <p:blipFill>
          <a:blip r:embed="rId3"/>
          <a:srcRect l="28678" r="28678"/>
          <a:stretch>
            <a:fillRect/>
          </a:stretch>
        </p:blipFill>
        <p:spPr>
          <a:xfrm>
            <a:off x="6351878" y="2377440"/>
            <a:ext cx="786384" cy="1005840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351878" y="2377440"/>
            <a:ext cx="786384" cy="1005840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11414" y="2414016"/>
            <a:ext cx="13974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11414" y="2651760"/>
            <a:ext cx="13974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11414" y="3072384"/>
            <a:ext cx="1397431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1414" y="3145536"/>
            <a:ext cx="13974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金バッジ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1878" y="3511296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0246" y="3511296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PDPA-A-2026-0001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1878" y="3730752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有効期限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10246" y="3730752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2028年3月31日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23862" y="4718304"/>
            <a:ext cx="2512999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23862" y="4718304"/>
            <a:ext cx="25129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認定講師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23862" y="5157216"/>
            <a:ext cx="251299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23862" y="5157216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金バッジ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92893" y="1463040"/>
            <a:ext cx="2512999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043652" y="1545336"/>
            <a:ext cx="411480" cy="82296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92893" y="1700784"/>
            <a:ext cx="2512999" cy="566928"/>
          </a:xfrm>
          <a:prstGeom prst="rect">
            <a:avLst/>
          </a:prstGeom>
          <a:solidFill>
            <a:srgbClr val="3E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6" name="Picture 6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333" y="1764792"/>
            <a:ext cx="438912" cy="43891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596397" y="1755648"/>
            <a:ext cx="18180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一般社団法人</a:t>
            </a:r>
          </a:p>
          <a:p>
            <a:pPr algn="l">
              <a:lnSpc>
                <a:spcPct val="130000"/>
              </a:lnSpc>
            </a:pPr>
            <a:r>
              <a:rPr sz="75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ペット防災アドバイザー協会</a:t>
            </a:r>
          </a:p>
        </p:txBody>
      </p:sp>
      <p:pic>
        <p:nvPicPr>
          <p:cNvPr id="68" name="Picture 67" descr="id_portrait.jpg"/>
          <p:cNvPicPr>
            <a:picLocks noChangeAspect="1"/>
          </p:cNvPicPr>
          <p:nvPr/>
        </p:nvPicPr>
        <p:blipFill>
          <a:blip r:embed="rId3"/>
          <a:srcRect l="28678" r="28678"/>
          <a:stretch>
            <a:fillRect/>
          </a:stretch>
        </p:blipFill>
        <p:spPr>
          <a:xfrm>
            <a:off x="9120909" y="2377440"/>
            <a:ext cx="786384" cy="100584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9120909" y="2377440"/>
            <a:ext cx="786384" cy="1005840"/>
          </a:xfrm>
          <a:prstGeom prst="rect">
            <a:avLst/>
          </a:prstGeom>
          <a:noFill/>
          <a:ln w="12700">
            <a:solidFill>
              <a:srgbClr val="17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80445" y="2414016"/>
            <a:ext cx="13974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1" i="0">
                <a:solidFill>
                  <a:srgbClr val="B37608"/>
                </a:solidFill>
                <a:latin typeface="BIZ UDPGothic"/>
                <a:ea typeface="BIZ UDPGothic"/>
                <a:cs typeface="BIZ UDPGothic"/>
              </a:rPr>
              <a:t>認定ペット防災アドバイザー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80445" y="2651760"/>
            <a:ext cx="13974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山田 太郎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80445" y="3072384"/>
            <a:ext cx="1397431" cy="12700"/>
          </a:xfrm>
          <a:prstGeom prst="rect">
            <a:avLst/>
          </a:prstGeom>
          <a:solidFill>
            <a:srgbClr val="3E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80445" y="3145536"/>
            <a:ext cx="13974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プラチナ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20909" y="3511296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認定番号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79277" y="3511296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PDPA-A-2026-0001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20909" y="3730752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有効期限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79277" y="3730752"/>
            <a:ext cx="1598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2028年3月31日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92893" y="4718304"/>
            <a:ext cx="2512999" cy="310896"/>
          </a:xfrm>
          <a:prstGeom prst="rect">
            <a:avLst/>
          </a:prstGeom>
          <a:solidFill>
            <a:srgbClr val="3E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92893" y="4718304"/>
            <a:ext cx="25129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マスター講師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92893" y="5157216"/>
            <a:ext cx="2512999" cy="365760"/>
          </a:xfrm>
          <a:prstGeom prst="rect">
            <a:avLst/>
          </a:prstGeom>
          <a:solidFill>
            <a:srgbClr val="3E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92893" y="5157216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プラチナ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" y="5989320"/>
            <a:ext cx="98142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検討用（PDPA-100S-VAR）／段階は協会 活動実績ポイント制度に対応／氏名・認定番号・写真は架空の見本です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82935" y="59893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